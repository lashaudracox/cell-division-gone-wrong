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7C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564"/>
  </p:normalViewPr>
  <p:slideViewPr>
    <p:cSldViewPr snapToGrid="0" snapToObjects="1">
      <p:cViewPr varScale="1">
        <p:scale>
          <a:sx n="109" d="100"/>
          <a:sy n="109" d="100"/>
        </p:scale>
        <p:origin x="7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049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OPUAj6w3090?feature=oembed" TargetMode="External"/><Relationship Id="rId5" Type="http://schemas.openxmlformats.org/officeDocument/2006/relationships/image" Target="../media/image1.jpeg"/><Relationship Id="rId4" Type="http://schemas.openxmlformats.org/officeDocument/2006/relationships/hyperlink" Target="https://youtu.be/OPUAj6w3090?si=g7RYGyCxVk9xso0y&amp;t=41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3657600" cy="3657600"/>
          </a:xfrm>
          <a:prstGeom prst="ellipse">
            <a:avLst/>
          </a:prstGeom>
          <a:solidFill>
            <a:srgbClr val="0E7C86">
              <a:alpha val="25000"/>
            </a:srgbClr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4754880"/>
            <a:ext cx="2743200" cy="2743200"/>
          </a:xfrm>
          <a:prstGeom prst="ellipse">
            <a:avLst/>
          </a:prstGeom>
          <a:solidFill>
            <a:srgbClr val="C8102E">
              <a:alpha val="18000"/>
            </a:srgbClr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 ·  IN-CLASS SESSION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Controls</a:t>
            </a:r>
            <a:endParaRPr lang="en-US" sz="5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Cell Cycle Mutations Lead to Cancer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2103120" cy="310896"/>
          </a:xfrm>
          <a:prstGeom prst="roundRect">
            <a:avLst>
              <a:gd name="adj" fmla="val 47059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9–10  ·  Biology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0" y="4206240"/>
            <a:ext cx="2103120" cy="310896"/>
          </a:xfrm>
          <a:prstGeom prst="roundRect">
            <a:avLst>
              <a:gd name="adj" fmla="val 47059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0" y="420624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50-Minute Class Session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4206240"/>
            <a:ext cx="2103120" cy="310896"/>
          </a:xfrm>
          <a:prstGeom prst="roundRect">
            <a:avLst>
              <a:gd name="adj" fmla="val 47059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420624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 Classroom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0" y="6620256"/>
            <a:ext cx="12188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2: When Controls Break Down  ·  STEM Education &amp; Outreach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WARM-UP  ·  0–7 MIN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these anonymized responses from last night's online module. With your partner: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D8EEF1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" y="1970532"/>
            <a:ext cx="402336" cy="40233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9705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student understand?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EEF5F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91072" y="1970532"/>
            <a:ext cx="402336" cy="40233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91072" y="19705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18288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they still working through?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11430000" cy="2560320"/>
          </a:xfrm>
          <a:prstGeom prst="roundRect">
            <a:avLst>
              <a:gd name="adj" fmla="val 2857"/>
            </a:avLst>
          </a:prstGeom>
          <a:solidFill>
            <a:srgbClr val="FAFCFF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11430000" cy="292608"/>
          </a:xfrm>
          <a:prstGeom prst="roundRect">
            <a:avLst>
              <a:gd name="adj" fmla="val 25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79806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RESPONSES (Project here — paste 2–3 anonymized exit ticket short answers before class)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Choose one response that's strong, one that's partial, and one that needs support — all anonymous.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0" y="6620256"/>
            <a:ext cx="12188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2: When Controls Break Down  ·  STEM Education &amp; Outreach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LEARNING OBJECTIVES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1430000" cy="1051560"/>
          </a:xfrm>
          <a:prstGeom prst="roundRect">
            <a:avLst>
              <a:gd name="adj" fmla="val 6957"/>
            </a:avLst>
          </a:prstGeom>
          <a:solidFill>
            <a:srgbClr val="D8EEF1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9496" y="1659636"/>
            <a:ext cx="475488" cy="47548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9496" y="16596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499616"/>
            <a:ext cx="85953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mutations in checkpoint genes lead to uncontrolled cell division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966960" y="1709928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66960" y="170992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UNDERSTAND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11430000" cy="1051560"/>
          </a:xfrm>
          <a:prstGeom prst="roundRect">
            <a:avLst>
              <a:gd name="adj" fmla="val 6957"/>
            </a:avLst>
          </a:prstGeom>
          <a:solidFill>
            <a:srgbClr val="D8EEF1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9496" y="2848356"/>
            <a:ext cx="475488" cy="47548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9496" y="28483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2688336"/>
            <a:ext cx="85953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oncogenes and tumor suppressor genes using the 'brake/accelerator' model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966960" y="2898648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966960" y="28986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UNDERSTAND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11430000" cy="1051560"/>
          </a:xfrm>
          <a:prstGeom prst="roundRect">
            <a:avLst>
              <a:gd name="adj" fmla="val 6957"/>
            </a:avLst>
          </a:prstGeom>
          <a:solidFill>
            <a:srgbClr val="EEF5F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9496" y="4037076"/>
            <a:ext cx="475488" cy="47548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9496" y="40370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3877056"/>
            <a:ext cx="85953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two-hit hypothesis to analyze a real patient case involving ALL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966960" y="4087368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66960" y="408736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APPLY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4937760"/>
            <a:ext cx="11430000" cy="1051560"/>
          </a:xfrm>
          <a:prstGeom prst="roundRect">
            <a:avLst>
              <a:gd name="adj" fmla="val 6957"/>
            </a:avLst>
          </a:prstGeom>
          <a:solidFill>
            <a:srgbClr val="FDE8EC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9496" y="5225796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9496" y="52257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3000" y="5065776"/>
            <a:ext cx="85953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a conclusion about which checkpoint failed based on molecular evidence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966960" y="5276088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966960" y="527608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EVALUATE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0" y="6620256"/>
            <a:ext cx="12188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2: When Controls Break Down  ·  STEM Education &amp; Outreach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0"/>
            <a:ext cx="4572000" cy="4572000"/>
          </a:xfrm>
          <a:prstGeom prst="ellipse">
            <a:avLst/>
          </a:prstGeom>
          <a:solidFill>
            <a:srgbClr val="0E7C86">
              <a:alpha val="20000"/>
            </a:srgbClr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1430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CASE STUDY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Maya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Study in Pediatric Acute Lymphoblastic Leukemia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1E4A6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810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1762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1762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years 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609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symptom: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66090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Fatigue, bruising, swollen lymph nodes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14553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314553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Lymphoblastic Leukemia (ALL)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6301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finding: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363016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lymphoblast proliferation in bone marrow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5760720" cy="4297680"/>
          </a:xfrm>
          <a:prstGeom prst="roundRect">
            <a:avLst>
              <a:gd name="adj" fmla="val 1702"/>
            </a:avLst>
          </a:prstGeom>
          <a:solidFill>
            <a:srgbClr val="1E4A6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8105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CHALLENGE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214884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Maya's genetic panel reveals mutations. Using the four clues in your case study packet, answer: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18504" y="2976723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9400" y="2852928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checkpoint failed — G1/S, G2/M, or both?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18504" y="3635091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29400" y="351129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failure due to an oncogene, a tumor suppressor, or both?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18504" y="4305182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29400" y="416966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specific gene(s) does the evidence point to?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18504" y="4951827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29400" y="482803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tell us about how Maya's cancer developed?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0" y="6620256"/>
            <a:ext cx="12188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packet distributed — 1 per student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SMALL GROUP WORK  ·  10–28 MIN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23960" y="438912"/>
            <a:ext cx="2971800" cy="512064"/>
          </a:xfrm>
          <a:prstGeom prst="roundRect">
            <a:avLst>
              <a:gd name="adj" fmla="val 14286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23960" y="438912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10–28 MIN  ·  SMALL GROUPS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Maya's case using the four clues in your packet. For each clue, complete the analysis table in your Guided Notes.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D8EEF1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5486400" cy="320040"/>
          </a:xfrm>
          <a:prstGeom prst="roundRect">
            <a:avLst>
              <a:gd name="adj" fmla="val 2285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1  ·  Lab Report Clue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" y="1984248"/>
            <a:ext cx="52303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Lymphoblast count is 72% of bone marrow. Normal is under 5%. What does this tell you about the G1/S checkpoint?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86200" y="3502152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86200" y="3502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UNDERSTAND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80760" y="160020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EEF5F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80760" y="1600200"/>
            <a:ext cx="5486400" cy="320040"/>
          </a:xfrm>
          <a:prstGeom prst="roundRect">
            <a:avLst>
              <a:gd name="adj" fmla="val 2285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08776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2  ·  Biopsy Result Clue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08776" y="1984248"/>
            <a:ext cx="52303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are dividing without completing normal G1 requirements. Cyclin D1 is overexpressed. Is this a brake failure or an accelerator stuck on?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601200" y="3502152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0" y="3502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UNDERSTAND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FF3CC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5486400" cy="320040"/>
          </a:xfrm>
          <a:prstGeom prst="roundRect">
            <a:avLst>
              <a:gd name="adj" fmla="val 2285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3  ·  Genetic Panel Clue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" y="4407408"/>
            <a:ext cx="52303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analysis shows both copies of a key tumor suppressor gene are inactivated. Which hypothesis does this directly support?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886200" y="5925312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86200" y="5925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APPLY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80760" y="402336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DE8EC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80760" y="4023360"/>
            <a:ext cx="5486400" cy="320040"/>
          </a:xfrm>
          <a:prstGeom prst="roundRect">
            <a:avLst>
              <a:gd name="adj" fmla="val 2285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08776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4  ·  Guiding Question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08776" y="4407408"/>
            <a:ext cx="52303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checkpoint failed, and why? Use gene names from your module. Defend your answer with at least two pieces of evidence from the clues above.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601200" y="5925312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01200" y="5925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EVALUATE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0" y="6620256"/>
            <a:ext cx="12188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2: When Controls Break Down  ·  STEM Education &amp; Outreach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WHOLE-CLASS DISCUSSION  ·  28–40 MIN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Building Toward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1430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recall to anchor the room, then build toward analysis and evaluation. Cold-call only students who showed mastery on the exit ticket.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719072"/>
            <a:ext cx="11430000" cy="1417320"/>
          </a:xfrm>
          <a:prstGeom prst="roundRect">
            <a:avLst>
              <a:gd name="adj" fmla="val 5161"/>
            </a:avLst>
          </a:prstGeom>
          <a:solidFill>
            <a:srgbClr val="D8EEF1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11430000" cy="292608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171907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REMEMBER / UNDERSTAND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9496" y="2148840"/>
            <a:ext cx="237744" cy="23774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2121408"/>
            <a:ext cx="10835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what does a cell cycle checkpoint do?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" y="2660904"/>
            <a:ext cx="237744" cy="23774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633472"/>
            <a:ext cx="10835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gene that acts as a 'brake' in the cell cycle. What happens when it's mutated?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73552"/>
            <a:ext cx="11430000" cy="1417320"/>
          </a:xfrm>
          <a:prstGeom prst="roundRect">
            <a:avLst>
              <a:gd name="adj" fmla="val 5161"/>
            </a:avLst>
          </a:prstGeom>
          <a:solidFill>
            <a:srgbClr val="EEF5F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273552"/>
            <a:ext cx="11430000" cy="292608"/>
          </a:xfrm>
          <a:prstGeom prst="roundRect">
            <a:avLst>
              <a:gd name="adj" fmla="val 25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" y="327355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APPLY / ANALYZE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9496" y="3703320"/>
            <a:ext cx="237744" cy="23774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3675888"/>
            <a:ext cx="10835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Maya's clues, which specific checkpoint failed? What's your evidence?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496" y="4215384"/>
            <a:ext cx="237744" cy="23774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" y="4187952"/>
            <a:ext cx="10835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failure an oncogene (stuck accelerator) or a tumor suppressor failure (lost brake), or both? How do you know?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828032"/>
            <a:ext cx="11430000" cy="1417320"/>
          </a:xfrm>
          <a:prstGeom prst="roundRect">
            <a:avLst>
              <a:gd name="adj" fmla="val 5161"/>
            </a:avLst>
          </a:prstGeom>
          <a:solidFill>
            <a:srgbClr val="FDE8EC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4828032"/>
            <a:ext cx="11430000" cy="292608"/>
          </a:xfrm>
          <a:prstGeom prst="roundRect">
            <a:avLst>
              <a:gd name="adj" fmla="val 25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" y="482803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EVALUATE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9496" y="5257800"/>
            <a:ext cx="237744" cy="23774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1248" y="5230368"/>
            <a:ext cx="10835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Maya's doctors could target only one gene, which would have more impact on stopping the cancer — and why?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9496" y="5769864"/>
            <a:ext cx="237744" cy="23774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1248" y="5742432"/>
            <a:ext cx="10835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Two-hit hypothesis check: Does Maya's case fit the model? What would need to be true about her family history?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0" y="6620256"/>
            <a:ext cx="12188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2: When Controls Break Down  ·  STEM Education &amp; Outreach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DEBRIEF  ·  REVEAL AFTER DISCUSSION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Evidence Points 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1430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only after students have shared their reasoning. Use this to affirm strong thinking and correct any persistent misconceptions.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719072"/>
            <a:ext cx="11430000" cy="1280160"/>
          </a:xfrm>
          <a:prstGeom prst="roundRect">
            <a:avLst>
              <a:gd name="adj" fmla="val 5714"/>
            </a:avLst>
          </a:prstGeom>
          <a:solidFill>
            <a:srgbClr val="EBF7F8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73152" cy="12801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Maya's Diagnosis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G1/S checkpoint has failed. Overexpressed Cyclin D1 (an oncogene mechanism) is driving cells past G1 without size and DNA-integrity confirmation. Additionally, both copies of a tumor suppressor gene — consistent with a two-hit event — are inactivated. This dual failure removes both the 'accelerator control' and the 'brake' simultaneously, producing the rapid lymphoblast proliferation seen in Maya's bone marrow.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127248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EEF5F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3127248"/>
            <a:ext cx="3611880" cy="256032"/>
          </a:xfrm>
          <a:prstGeom prst="roundRect">
            <a:avLst>
              <a:gd name="adj" fmla="val 2857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12724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INVOLVED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41985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G1/S checkpoint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3127248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EEF5F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3127248"/>
            <a:ext cx="3611880" cy="256032"/>
          </a:xfrm>
          <a:prstGeom prst="roundRect">
            <a:avLst>
              <a:gd name="adj" fmla="val 28571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0" y="312724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TYPE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97680" y="341985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Oncogene + tumor suppressor loss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3127248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EEF5F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3127248"/>
            <a:ext cx="3611880" cy="256032"/>
          </a:xfrm>
          <a:prstGeom prst="roundRect">
            <a:avLst>
              <a:gd name="adj" fmla="val 28571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38160" y="312724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SUPPORTED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38160" y="341985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Two-hit hypothesis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FDE8EC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206240"/>
            <a:ext cx="73152" cy="7772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4251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misconception to address: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480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sometimes say 'the p53 gene is broken' — redirect to precision: p53 is the protein; TP53 is the gene. Requiring the correct terminology here matters — it's the vocabulary of the field.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0" y="6620256"/>
            <a:ext cx="12188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2: When Controls Break Down  ·  STEM Education &amp; Outreach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0E7C86">
              <a:alpha val="20000"/>
            </a:srgbClr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1430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RESEARCH CONNECTION  ·  40–43 MIN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Maya's Story Is Real Science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33856"/>
            <a:ext cx="109728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943600" cy="4023360"/>
          </a:xfrm>
          <a:prstGeom prst="roundRect">
            <a:avLst>
              <a:gd name="adj" fmla="val 1818"/>
            </a:avLst>
          </a:prstGeom>
          <a:solidFill>
            <a:srgbClr val="1E4A6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BEHIND THE CASE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— then: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14600" y="1828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ALL: under 10% in the 1960s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— now: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14600" y="2560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90% — one of medicine's greatest success stories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14600" y="3291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molecular biology of checkpoint failure enabled targeted therapy development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14600" y="4023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biology Maya's case just demonstrated: identifying which gene failed is step 1 of designing a treatment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0" y="1298448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1E4A6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138988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RESEARCHER VIDEO CLIP</a:t>
            </a:r>
            <a:endParaRPr lang="en-US" sz="850" dirty="0"/>
          </a:p>
        </p:txBody>
      </p:sp>
      <p:sp>
        <p:nvSpPr>
          <p:cNvPr id="18" name="Shape 16">
            <a:hlinkClick r:id="rId4"/>
          </p:cNvPr>
          <p:cNvSpPr/>
          <p:nvPr/>
        </p:nvSpPr>
        <p:spPr>
          <a:xfrm>
            <a:off x="8549640" y="2130552"/>
            <a:ext cx="1371600" cy="1371600"/>
          </a:xfrm>
          <a:prstGeom prst="ellipse">
            <a:avLst/>
          </a:prstGeom>
          <a:solidFill>
            <a:srgbClr val="0E7C86">
              <a:alpha val="80000"/>
            </a:srgbClr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36576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clip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 and timestamp from 0:41 to 2:25 before class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4297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clip, ask: 'What did this researcher say that connected to Maya's case?'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0" y="6620256"/>
            <a:ext cx="12188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2: When Controls Break Down  ·  STEM Education &amp; Outreach</a:t>
            </a:r>
            <a:endParaRPr lang="en-US" sz="800" dirty="0"/>
          </a:p>
        </p:txBody>
      </p:sp>
      <p:pic>
        <p:nvPicPr>
          <p:cNvPr id="24" name="Online Media 23" descr="How do genetic changes contribute to acute lymphoblastic leukemia (ALL) development?">
            <a:hlinkClick r:id="" action="ppaction://media"/>
            <a:extLst>
              <a:ext uri="{FF2B5EF4-FFF2-40B4-BE49-F238E27FC236}">
                <a16:creationId xmlns:a16="http://schemas.microsoft.com/office/drawing/2014/main" id="{2618B527-1823-66A1-1254-2CC515CFE92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7965440" y="2067052"/>
            <a:ext cx="2540000" cy="143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SYNTHESIS  ·  43–47 MIN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exit ticket, build the full causal chain as a class: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D8EEF1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97480" cy="9144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40180" y="23317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401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Oncogene or TSG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63240" y="24688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46120" y="16916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EEF5F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1691640"/>
            <a:ext cx="2697480" cy="91440"/>
          </a:xfrm>
          <a:prstGeom prst="roundRect">
            <a:avLst>
              <a:gd name="adj" fmla="val 5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20540" y="2331720"/>
            <a:ext cx="548640" cy="54864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2054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37560" y="29718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Failure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34015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G1/S or G2/M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0" y="24688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26480" y="16916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D8EEF1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480" y="1691640"/>
            <a:ext cx="2697480" cy="9144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00900" y="233172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0090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29718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Division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34015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bypass controls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823960" y="24688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006840" y="16916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EEF5F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006840" y="1691640"/>
            <a:ext cx="2697480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081260" y="233172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0812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098280" y="29718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98280" y="34015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mutations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114800"/>
            <a:ext cx="11430000" cy="1645920"/>
          </a:xfrm>
          <a:prstGeom prst="roundRect">
            <a:avLst>
              <a:gd name="adj" fmla="val 4444"/>
            </a:avLst>
          </a:prstGeom>
          <a:solidFill>
            <a:srgbClr val="FFFBF0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65760" y="4114800"/>
            <a:ext cx="73152" cy="1645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41879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question (ask the class, then move to exit ticket):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" y="44988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followed Maya's case from mutation all the way to cancer. Now — what would need to happen for a treatment to work? What step in this chain would a drug need to interrupt?"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0" y="6620256"/>
            <a:ext cx="12188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2: When Controls Break Down  ·  STEM Education &amp; Outreach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1430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EXIT TICKET + CLOSE  ·  47–50 MIN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33856"/>
            <a:ext cx="100584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6217920" cy="4114800"/>
          </a:xfrm>
          <a:prstGeom prst="roundRect">
            <a:avLst>
              <a:gd name="adj" fmla="val 1778"/>
            </a:avLst>
          </a:prstGeom>
          <a:solidFill>
            <a:srgbClr val="1E4A6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(Complete before leaving)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162A40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6364" y="2002536"/>
            <a:ext cx="329184" cy="3291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9202" y="201121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>
              <a:solidFill>
                <a:srgbClr val="0E7C86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4128" y="1810512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cell cycle checkpoint failed in Maya's case? Name the specific phase.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0" y="2560320"/>
            <a:ext cx="1005840" cy="201168"/>
          </a:xfrm>
          <a:prstGeom prst="roundRect">
            <a:avLst>
              <a:gd name="adj" fmla="val 27273"/>
            </a:avLst>
          </a:prstGeom>
          <a:solidFill>
            <a:srgbClr val="0E7C86">
              <a:alpha val="70000"/>
            </a:srgbClr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0" y="25603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97180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162A40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9540" y="3227481"/>
            <a:ext cx="329184" cy="3291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" y="322337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>
              <a:solidFill>
                <a:srgbClr val="0E7C86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24128" y="2999232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two-hit hypothesis requires both copies of a gene to be inactivated. Which type of gene does this apply to?  A) oncogene  B) tumor suppressor  C) CDK  D) cyclin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0" y="3749040"/>
            <a:ext cx="1005840" cy="201168"/>
          </a:xfrm>
          <a:prstGeom prst="roundRect">
            <a:avLst>
              <a:gd name="adj" fmla="val 27273"/>
            </a:avLst>
          </a:prstGeom>
          <a:solidFill>
            <a:srgbClr val="0E7C86">
              <a:alpha val="70000"/>
            </a:srgbClr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0" y="37490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162A40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7817" y="4416201"/>
            <a:ext cx="329184" cy="3291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" y="4400373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>
              <a:solidFill>
                <a:srgbClr val="0E7C86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24128" y="4187952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sentence: explain why identifying a specific checkpoint failure matters for treatment.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03520" y="4937760"/>
            <a:ext cx="1005840" cy="201168"/>
          </a:xfrm>
          <a:prstGeom prst="roundRect">
            <a:avLst>
              <a:gd name="adj" fmla="val 27273"/>
            </a:avLst>
          </a:prstGeom>
          <a:solidFill>
            <a:srgbClr val="0E7C86">
              <a:alpha val="70000"/>
            </a:srgbClr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0" y="4937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12280" y="1298448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1E4A6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95160" y="13898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PREP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67728" y="1783080"/>
            <a:ext cx="182880" cy="1828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223760" y="173736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Exit Ticket in your guided notes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67728" y="2240280"/>
            <a:ext cx="182880" cy="1828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23760" y="219456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Sections 1–4 of the module if you need a reference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67728" y="2697480"/>
            <a:ext cx="182880" cy="1828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23760" y="265176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explain your answer to Question 3 out loud next class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12280" y="3337560"/>
            <a:ext cx="5029200" cy="2057400"/>
          </a:xfrm>
          <a:prstGeom prst="roundRect">
            <a:avLst>
              <a:gd name="adj" fmla="val 3556"/>
            </a:avLst>
          </a:prstGeom>
          <a:solidFill>
            <a:srgbClr val="1E4A6B"/>
          </a:solidFill>
          <a:ln w="6350">
            <a:solidFill>
              <a:srgbClr val="D1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95160" y="340156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 — LESSON 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995160" y="3730752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know which checkpoint failed in Maya's case. Next lesson: what makes a mutation happen in the first place, and why does it matter whether it's inherited or acquired?"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0" y="6620256"/>
            <a:ext cx="12188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 ·  Lesson 2 of 4  ·  STEM Education &amp; Outreach  ·  Grades 9–10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1318</Words>
  <Application>Microsoft Macintosh PowerPoint</Application>
  <PresentationFormat>Widescreen</PresentationFormat>
  <Paragraphs>162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LASHAUDRA  COX</cp:lastModifiedBy>
  <cp:revision>2</cp:revision>
  <dcterms:created xsi:type="dcterms:W3CDTF">2026-04-18T21:46:53Z</dcterms:created>
  <dcterms:modified xsi:type="dcterms:W3CDTF">2026-04-18T22:25:34Z</dcterms:modified>
</cp:coreProperties>
</file>