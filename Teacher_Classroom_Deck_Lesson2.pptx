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1097280"/>
            <a:ext cx="3657600" cy="3657600"/>
          </a:xfrm>
          <a:prstGeom prst="ellipse">
            <a:avLst/>
          </a:prstGeom>
          <a:solidFill>
            <a:srgbClr val="0E7C86">
              <a:alpha val="25000"/>
            </a:srgbClr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75520" y="4754880"/>
            <a:ext cx="2743200" cy="2743200"/>
          </a:xfrm>
          <a:prstGeom prst="ellipse">
            <a:avLst/>
          </a:prstGeom>
          <a:solidFill>
            <a:srgbClr val="C8102E">
              <a:alpha val="18000"/>
            </a:srgbClr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371600"/>
            <a:ext cx="2011680" cy="292608"/>
          </a:xfrm>
          <a:prstGeom prst="roundRect">
            <a:avLst>
              <a:gd name="adj" fmla="val 12500"/>
            </a:avLst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37160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  ·  IN-CLASS SESSION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737360"/>
            <a:ext cx="77724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Controls</a:t>
            </a:r>
            <a:endParaRPr lang="en-US" sz="52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Down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457200" y="356616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A8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 How Cell Cycle Mutations Lead to Cancer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4206240"/>
            <a:ext cx="2103120" cy="310896"/>
          </a:xfrm>
          <a:prstGeom prst="roundRect">
            <a:avLst>
              <a:gd name="adj" fmla="val 47059"/>
            </a:avLst>
          </a:prstGeom>
          <a:solidFill>
            <a:srgbClr val="FFFFFF">
              <a:alpha val="12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4206240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 9–10  ·  Biology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743200" y="4206240"/>
            <a:ext cx="2103120" cy="310896"/>
          </a:xfrm>
          <a:prstGeom prst="roundRect">
            <a:avLst>
              <a:gd name="adj" fmla="val 47059"/>
            </a:avLst>
          </a:prstGeom>
          <a:solidFill>
            <a:srgbClr val="FFFFFF">
              <a:alpha val="12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0" y="4206240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50-Minute Class Session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029200" y="4206240"/>
            <a:ext cx="2103120" cy="310896"/>
          </a:xfrm>
          <a:prstGeom prst="roundRect">
            <a:avLst>
              <a:gd name="adj" fmla="val 47059"/>
            </a:avLst>
          </a:prstGeom>
          <a:solidFill>
            <a:srgbClr val="FFFFFF">
              <a:alpha val="12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0" y="4206240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Flipped Classroom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0" y="6620256"/>
            <a:ext cx="121889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2: When Controls Break Down  ·  STEM Education &amp; Outreach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11430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WARM-UP  ·  0–7 MIN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365760" y="475488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Ticket Review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365760" y="1234440"/>
            <a:ext cx="11430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these anonymized responses from last night's online module. With your partner: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691640"/>
            <a:ext cx="5440680" cy="960120"/>
          </a:xfrm>
          <a:prstGeom prst="roundRect">
            <a:avLst>
              <a:gd name="adj" fmla="val 7619"/>
            </a:avLst>
          </a:prstGeom>
          <a:solidFill>
            <a:srgbClr val="D8EEF1"/>
          </a:solidFill>
          <a:ln w="6350">
            <a:solidFill>
              <a:srgbClr val="D1E4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1792" y="1970532"/>
            <a:ext cx="402336" cy="402336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197053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97280" y="1828800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this student understand?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035040" y="1691640"/>
            <a:ext cx="5440680" cy="960120"/>
          </a:xfrm>
          <a:prstGeom prst="roundRect">
            <a:avLst>
              <a:gd name="adj" fmla="val 7619"/>
            </a:avLst>
          </a:prstGeom>
          <a:solidFill>
            <a:srgbClr val="EEF5FB"/>
          </a:solidFill>
          <a:ln w="6350">
            <a:solidFill>
              <a:srgbClr val="D1E4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91072" y="1970532"/>
            <a:ext cx="402336" cy="402336"/>
          </a:xfrm>
          <a:prstGeom prst="ellipse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91072" y="197053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766560" y="1828800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are they still working through?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788920"/>
            <a:ext cx="11430000" cy="2560320"/>
          </a:xfrm>
          <a:prstGeom prst="roundRect">
            <a:avLst>
              <a:gd name="adj" fmla="val 2857"/>
            </a:avLst>
          </a:prstGeom>
          <a:solidFill>
            <a:srgbClr val="FAFCFF"/>
          </a:solidFill>
          <a:ln w="6350">
            <a:solidFill>
              <a:srgbClr val="D1E4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11430000" cy="292608"/>
          </a:xfrm>
          <a:prstGeom prst="roundRect">
            <a:avLst>
              <a:gd name="adj" fmla="val 25000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2798064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RESPONSES (Project here — paste 2–3 anonymized exit ticket short answers before class)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48640" y="493776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Tip: Choose one response that's strong, one that's partial, and one that needs support — all anonymous.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0" y="6620256"/>
            <a:ext cx="121889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2: When Controls Break Down  ·  STEM Education &amp; Outreach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11430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LEARNING OBJECTIVES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365760" y="475488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today, you will be able to…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1371600"/>
            <a:ext cx="11430000" cy="1051560"/>
          </a:xfrm>
          <a:prstGeom prst="roundRect">
            <a:avLst>
              <a:gd name="adj" fmla="val 6957"/>
            </a:avLst>
          </a:prstGeom>
          <a:solidFill>
            <a:srgbClr val="D8EEF1"/>
          </a:solidFill>
          <a:ln w="6350">
            <a:solidFill>
              <a:srgbClr val="D1E4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39496" y="1659636"/>
            <a:ext cx="475488" cy="47548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9496" y="1659636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43000" y="1499616"/>
            <a:ext cx="8595360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how mutations in checkpoint genes lead to uncontrolled cell division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9966960" y="1709928"/>
            <a:ext cx="1691640" cy="347472"/>
          </a:xfrm>
          <a:prstGeom prst="roundRect">
            <a:avLst>
              <a:gd name="adj" fmla="val 26316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966960" y="1709928"/>
            <a:ext cx="1691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BLOOM: UNDERSTAND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65760" y="2560320"/>
            <a:ext cx="11430000" cy="1051560"/>
          </a:xfrm>
          <a:prstGeom prst="roundRect">
            <a:avLst>
              <a:gd name="adj" fmla="val 6957"/>
            </a:avLst>
          </a:prstGeom>
          <a:solidFill>
            <a:srgbClr val="D8EEF1"/>
          </a:solidFill>
          <a:ln w="6350">
            <a:solidFill>
              <a:srgbClr val="D1E4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39496" y="2848356"/>
            <a:ext cx="475488" cy="47548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39496" y="2848356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143000" y="2688336"/>
            <a:ext cx="8595360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between oncogenes and tumor suppressor genes using the 'brake/accelerator' model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9966960" y="2898648"/>
            <a:ext cx="1691640" cy="347472"/>
          </a:xfrm>
          <a:prstGeom prst="roundRect">
            <a:avLst>
              <a:gd name="adj" fmla="val 26316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966960" y="2898648"/>
            <a:ext cx="1691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BLOOM: UNDERSTAND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65760" y="3749040"/>
            <a:ext cx="11430000" cy="1051560"/>
          </a:xfrm>
          <a:prstGeom prst="roundRect">
            <a:avLst>
              <a:gd name="adj" fmla="val 6957"/>
            </a:avLst>
          </a:prstGeom>
          <a:solidFill>
            <a:srgbClr val="EEF5FB"/>
          </a:solidFill>
          <a:ln w="6350">
            <a:solidFill>
              <a:srgbClr val="D1E4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9496" y="4037076"/>
            <a:ext cx="475488" cy="475488"/>
          </a:xfrm>
          <a:prstGeom prst="ellipse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9496" y="4037076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143000" y="3877056"/>
            <a:ext cx="8595360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two-hit hypothesis to analyze a real patient case involving ALL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9966960" y="4087368"/>
            <a:ext cx="1691640" cy="347472"/>
          </a:xfrm>
          <a:prstGeom prst="roundRect">
            <a:avLst>
              <a:gd name="adj" fmla="val 26316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966960" y="4087368"/>
            <a:ext cx="1691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BLOOM: APPLY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4937760"/>
            <a:ext cx="11430000" cy="1051560"/>
          </a:xfrm>
          <a:prstGeom prst="roundRect">
            <a:avLst>
              <a:gd name="adj" fmla="val 6957"/>
            </a:avLst>
          </a:prstGeom>
          <a:solidFill>
            <a:srgbClr val="FDE8EC"/>
          </a:solidFill>
          <a:ln w="6350">
            <a:solidFill>
              <a:srgbClr val="D1E4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39496" y="5225796"/>
            <a:ext cx="475488" cy="475488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9496" y="5225796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143000" y="5065776"/>
            <a:ext cx="8595360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 a conclusion about which checkpoint failed based on molecular evidence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9966960" y="5276088"/>
            <a:ext cx="1691640" cy="347472"/>
          </a:xfrm>
          <a:prstGeom prst="roundRect">
            <a:avLst>
              <a:gd name="adj" fmla="val 26316"/>
            </a:avLst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966960" y="5276088"/>
            <a:ext cx="1691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BLOOM: EVALUATE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0" y="6620256"/>
            <a:ext cx="121889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2: When Controls Break Down  ·  STEM Education &amp; Outreach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4572000"/>
            <a:ext cx="4572000" cy="4572000"/>
          </a:xfrm>
          <a:prstGeom prst="ellipse">
            <a:avLst/>
          </a:prstGeom>
          <a:solidFill>
            <a:srgbClr val="0E7C86">
              <a:alpha val="20000"/>
            </a:srgbClr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11430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CASE STUDY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6400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 Maya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8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Case Study in Pediatric Acute Lymphoblastic Leukemia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5303520" cy="2651760"/>
          </a:xfrm>
          <a:prstGeom prst="roundRect">
            <a:avLst>
              <a:gd name="adj" fmla="val 2759"/>
            </a:avLst>
          </a:prstGeom>
          <a:solidFill>
            <a:srgbClr val="1E4A6B"/>
          </a:solidFill>
          <a:ln w="6350">
            <a:solidFill>
              <a:srgbClr val="D1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810512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PROFILE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94360" y="2176272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FD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Age: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286000" y="2176272"/>
            <a:ext cx="3337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years old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2660904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FD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Presenting symptom: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286000" y="2660904"/>
            <a:ext cx="3337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Fatigue, bruising, swollen lymph nodes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94360" y="3145536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FD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Diagnosis: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0" y="3145536"/>
            <a:ext cx="3337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Acute Lymphoblastic Leukemia (ALL)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94360" y="3630168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FD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finding: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286000" y="3630168"/>
            <a:ext cx="3337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Abnormal lymphoblast proliferation in bone marrow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035040" y="1737360"/>
            <a:ext cx="5760720" cy="4297680"/>
          </a:xfrm>
          <a:prstGeom prst="roundRect">
            <a:avLst>
              <a:gd name="adj" fmla="val 1702"/>
            </a:avLst>
          </a:prstGeom>
          <a:solidFill>
            <a:srgbClr val="1E4A6B"/>
          </a:solidFill>
          <a:ln w="6350">
            <a:solidFill>
              <a:srgbClr val="D1E4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72200" y="1810512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CHALLENGE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172200" y="2148840"/>
            <a:ext cx="5440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Maya's genetic panel reveals mutations. Using the four clues in your case study packet, answer: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318504" y="2871216"/>
            <a:ext cx="256032" cy="256032"/>
          </a:xfrm>
          <a:prstGeom prst="ellipse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29400" y="2852928"/>
            <a:ext cx="5029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checkpoint failed — G1/S, G2/M, or both?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318504" y="3529584"/>
            <a:ext cx="256032" cy="256032"/>
          </a:xfrm>
          <a:prstGeom prst="ellipse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29400" y="3511296"/>
            <a:ext cx="5029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the failure due to an oncogene, a tumor suppressor, or both?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318504" y="4187952"/>
            <a:ext cx="256032" cy="256032"/>
          </a:xfrm>
          <a:prstGeom prst="ellipse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29400" y="4169664"/>
            <a:ext cx="5029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specific gene(s) does the evidence point to?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318504" y="4846320"/>
            <a:ext cx="256032" cy="256032"/>
          </a:xfrm>
          <a:prstGeom prst="ellipse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29400" y="4828032"/>
            <a:ext cx="5029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this tell us about how Maya's cancer developed?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0" y="6620256"/>
            <a:ext cx="121889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packet distributed — 1 per student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11430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SMALL GROUP WORK  ·  10–28 MIN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365760" y="384048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Analysis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823960" y="438912"/>
            <a:ext cx="2971800" cy="512064"/>
          </a:xfrm>
          <a:prstGeom prst="roundRect">
            <a:avLst>
              <a:gd name="adj" fmla="val 14286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23960" y="438912"/>
            <a:ext cx="2971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10–28 MIN  ·  SMALL GROUPS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65760" y="1115568"/>
            <a:ext cx="11430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 Maya's case using the four clues in your packet. For each clue, complete the analysis table in your Guided Notes.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1600200"/>
            <a:ext cx="5486400" cy="2240280"/>
          </a:xfrm>
          <a:prstGeom prst="roundRect">
            <a:avLst>
              <a:gd name="adj" fmla="val 3265"/>
            </a:avLst>
          </a:prstGeom>
          <a:solidFill>
            <a:srgbClr val="D8EEF1"/>
          </a:solidFill>
          <a:ln w="6350">
            <a:solidFill>
              <a:srgbClr val="D1E4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600200"/>
            <a:ext cx="5486400" cy="320040"/>
          </a:xfrm>
          <a:prstGeom prst="roundRect">
            <a:avLst>
              <a:gd name="adj" fmla="val 22857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3776" y="16002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Clue 1  ·  Lab Report Clue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93776" y="1984248"/>
            <a:ext cx="5230368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Lymphoblast count is 72% of bone marrow. Normal is under 5%. What does this tell you about the G1/S checkpoint?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886200" y="3502152"/>
            <a:ext cx="1828800" cy="256032"/>
          </a:xfrm>
          <a:prstGeom prst="roundRect">
            <a:avLst>
              <a:gd name="adj" fmla="val 28571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86200" y="350215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BLOOM: UNDERSTAND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080760" y="1600200"/>
            <a:ext cx="5486400" cy="2240280"/>
          </a:xfrm>
          <a:prstGeom prst="roundRect">
            <a:avLst>
              <a:gd name="adj" fmla="val 3265"/>
            </a:avLst>
          </a:prstGeom>
          <a:solidFill>
            <a:srgbClr val="EEF5FB"/>
          </a:solidFill>
          <a:ln w="6350">
            <a:solidFill>
              <a:srgbClr val="D1E4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80760" y="1600200"/>
            <a:ext cx="5486400" cy="320040"/>
          </a:xfrm>
          <a:prstGeom prst="roundRect">
            <a:avLst>
              <a:gd name="adj" fmla="val 22857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08776" y="16002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Clue 2  ·  Biopsy Result Clue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08776" y="1984248"/>
            <a:ext cx="5230368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Cells are dividing without completing normal G1 requirements. Cyclin D1 is overexpressed. Is this a brake failure or an accelerator stuck on?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601200" y="3502152"/>
            <a:ext cx="1828800" cy="256032"/>
          </a:xfrm>
          <a:prstGeom prst="roundRect">
            <a:avLst>
              <a:gd name="adj" fmla="val 28571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0" y="350215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BLOOM: UNDERSTAND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4023360"/>
            <a:ext cx="5486400" cy="2240280"/>
          </a:xfrm>
          <a:prstGeom prst="roundRect">
            <a:avLst>
              <a:gd name="adj" fmla="val 3265"/>
            </a:avLst>
          </a:prstGeom>
          <a:solidFill>
            <a:srgbClr val="FFF3CC"/>
          </a:solidFill>
          <a:ln w="6350">
            <a:solidFill>
              <a:srgbClr val="D1E4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5760" y="4023360"/>
            <a:ext cx="5486400" cy="320040"/>
          </a:xfrm>
          <a:prstGeom prst="roundRect">
            <a:avLst>
              <a:gd name="adj" fmla="val 22857"/>
            </a:avLst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3776" y="402336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Clue 3  ·  Genetic Panel Clue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93776" y="4407408"/>
            <a:ext cx="5230368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Genetic analysis shows both copies of a key tumor suppressor gene are inactivated. Which hypothesis does this directly support?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3886200" y="5925312"/>
            <a:ext cx="1828800" cy="256032"/>
          </a:xfrm>
          <a:prstGeom prst="roundRect">
            <a:avLst>
              <a:gd name="adj" fmla="val 28571"/>
            </a:avLst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886200" y="592531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BLOOM: APPLY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080760" y="4023360"/>
            <a:ext cx="5486400" cy="2240280"/>
          </a:xfrm>
          <a:prstGeom prst="roundRect">
            <a:avLst>
              <a:gd name="adj" fmla="val 3265"/>
            </a:avLst>
          </a:prstGeom>
          <a:solidFill>
            <a:srgbClr val="FDE8EC"/>
          </a:solidFill>
          <a:ln w="6350">
            <a:solidFill>
              <a:srgbClr val="D1E4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080760" y="4023360"/>
            <a:ext cx="5486400" cy="320040"/>
          </a:xfrm>
          <a:prstGeom prst="roundRect">
            <a:avLst>
              <a:gd name="adj" fmla="val 22857"/>
            </a:avLst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08776" y="402336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Clue 4  ·  Guiding Question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208776" y="4407408"/>
            <a:ext cx="5230368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checkpoint failed, and why? Use gene names from your module. Defend your answer with at least two pieces of evidence from the clues above.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9601200" y="5925312"/>
            <a:ext cx="1828800" cy="256032"/>
          </a:xfrm>
          <a:prstGeom prst="roundRect">
            <a:avLst>
              <a:gd name="adj" fmla="val 28571"/>
            </a:avLst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601200" y="592531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BLOOM: EVALUATE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0" y="6620256"/>
            <a:ext cx="121889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2: When Controls Break Down  ·  STEM Education &amp; Outreach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11430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WHOLE-CLASS DISCUSSION  ·  28–40 MIN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365760" y="475488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Discussion: Building Toward Evaluation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365760" y="1188720"/>
            <a:ext cx="11430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recall to anchor the room, then build toward analysis and evaluation. Cold-call only students who showed mastery on the exit ticket.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65760" y="1719072"/>
            <a:ext cx="11430000" cy="1417320"/>
          </a:xfrm>
          <a:prstGeom prst="roundRect">
            <a:avLst>
              <a:gd name="adj" fmla="val 5161"/>
            </a:avLst>
          </a:prstGeom>
          <a:solidFill>
            <a:srgbClr val="D8EEF1"/>
          </a:solidFill>
          <a:ln w="6350">
            <a:solidFill>
              <a:srgbClr val="D1E4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719072"/>
            <a:ext cx="11430000" cy="292608"/>
          </a:xfrm>
          <a:prstGeom prst="roundRect">
            <a:avLst>
              <a:gd name="adj" fmla="val 25000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12064" y="1719072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BLOOM: REMEMBER / UNDERSTAND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39496" y="2148840"/>
            <a:ext cx="237744" cy="237744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2121408"/>
            <a:ext cx="10835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your own words, what does a cell cycle checkpoint do?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39496" y="2660904"/>
            <a:ext cx="237744" cy="237744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" y="2633472"/>
            <a:ext cx="10835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one gene that acts as a 'brake' in the cell cycle. What happens when it's mutated?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65760" y="3273552"/>
            <a:ext cx="11430000" cy="1417320"/>
          </a:xfrm>
          <a:prstGeom prst="roundRect">
            <a:avLst>
              <a:gd name="adj" fmla="val 5161"/>
            </a:avLst>
          </a:prstGeom>
          <a:solidFill>
            <a:srgbClr val="EEF5FB"/>
          </a:solidFill>
          <a:ln w="6350">
            <a:solidFill>
              <a:srgbClr val="D1E4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3273552"/>
            <a:ext cx="11430000" cy="292608"/>
          </a:xfrm>
          <a:prstGeom prst="roundRect">
            <a:avLst>
              <a:gd name="adj" fmla="val 25000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2064" y="3273552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BLOOM: APPLY / ANALYZE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39496" y="3703320"/>
            <a:ext cx="237744" cy="237744"/>
          </a:xfrm>
          <a:prstGeom prst="ellipse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" y="3675888"/>
            <a:ext cx="10835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Maya's clues, which specific checkpoint failed? What's your evidence?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39496" y="4215384"/>
            <a:ext cx="237744" cy="237744"/>
          </a:xfrm>
          <a:prstGeom prst="ellipse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1248" y="4187952"/>
            <a:ext cx="10835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the failure an oncogene (stuck accelerator) or a tumor suppressor failure (lost brake), or both? How do you know?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4828032"/>
            <a:ext cx="11430000" cy="1417320"/>
          </a:xfrm>
          <a:prstGeom prst="roundRect">
            <a:avLst>
              <a:gd name="adj" fmla="val 5161"/>
            </a:avLst>
          </a:prstGeom>
          <a:solidFill>
            <a:srgbClr val="FDE8EC"/>
          </a:solidFill>
          <a:ln w="6350">
            <a:solidFill>
              <a:srgbClr val="D1E4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5760" y="4828032"/>
            <a:ext cx="11430000" cy="292608"/>
          </a:xfrm>
          <a:prstGeom prst="roundRect">
            <a:avLst>
              <a:gd name="adj" fmla="val 25000"/>
            </a:avLst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12064" y="4828032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BLOOM: EVALUATE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39496" y="5257800"/>
            <a:ext cx="237744" cy="237744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1248" y="5230368"/>
            <a:ext cx="10835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Maya's doctors could target only one gene, which would have more impact on stopping the cancer — and why?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39496" y="5769864"/>
            <a:ext cx="237744" cy="237744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41248" y="5742432"/>
            <a:ext cx="10835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Two-hit hypothesis check: Does Maya's case fit the model? What would need to be true about her family history?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0" y="6620256"/>
            <a:ext cx="121889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2: When Controls Break Down  ·  STEM Education &amp; Outreach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11430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DEBRIEF  ·  REVEAL AFTER DISCUSSION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365760" y="475488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Evidence Points To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365760" y="1188720"/>
            <a:ext cx="11430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Reveal only after students have shared their reasoning. Use this to affirm strong thinking and correct any persistent misconceptions.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719072"/>
            <a:ext cx="11430000" cy="1280160"/>
          </a:xfrm>
          <a:prstGeom prst="roundRect">
            <a:avLst>
              <a:gd name="adj" fmla="val 5714"/>
            </a:avLst>
          </a:prstGeom>
          <a:solidFill>
            <a:srgbClr val="EBF7F8"/>
          </a:solidFill>
          <a:ln w="6350">
            <a:solidFill>
              <a:srgbClr val="D1E4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719072"/>
            <a:ext cx="73152" cy="128016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783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Maya's Diagnosis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20848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G1/S checkpoint has failed. Overexpressed Cyclin D1 (an oncogene mechanism) is driving cells past G1 without size and DNA-integrity confirmation. Additionally, both copies of a tumor suppressor gene — consistent with a two-hit event — are inactivated. This dual failure removes both the 'accelerator control' and the 'brake' simultaneously, producing the rapid lymphoblast proliferation seen in Maya's bone marrow.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3127248"/>
            <a:ext cx="3611880" cy="960120"/>
          </a:xfrm>
          <a:prstGeom prst="roundRect">
            <a:avLst>
              <a:gd name="adj" fmla="val 7619"/>
            </a:avLst>
          </a:prstGeom>
          <a:solidFill>
            <a:srgbClr val="EEF5FB"/>
          </a:solidFill>
          <a:ln w="6350">
            <a:solidFill>
              <a:srgbClr val="D1E4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3127248"/>
            <a:ext cx="3611880" cy="256032"/>
          </a:xfrm>
          <a:prstGeom prst="roundRect">
            <a:avLst>
              <a:gd name="adj" fmla="val 28571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127248"/>
            <a:ext cx="3429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 INVOLVED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57200" y="3419856"/>
            <a:ext cx="3429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G1/S checkpoint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206240" y="3127248"/>
            <a:ext cx="3611880" cy="960120"/>
          </a:xfrm>
          <a:prstGeom prst="roundRect">
            <a:avLst>
              <a:gd name="adj" fmla="val 7619"/>
            </a:avLst>
          </a:prstGeom>
          <a:solidFill>
            <a:srgbClr val="EEF5FB"/>
          </a:solidFill>
          <a:ln w="6350">
            <a:solidFill>
              <a:srgbClr val="D1E4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06240" y="3127248"/>
            <a:ext cx="3611880" cy="256032"/>
          </a:xfrm>
          <a:prstGeom prst="roundRect">
            <a:avLst>
              <a:gd name="adj" fmla="val 28571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97680" y="3127248"/>
            <a:ext cx="3429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TYPE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297680" y="3419856"/>
            <a:ext cx="3429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Oncogene + tumor suppressor loss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046720" y="3127248"/>
            <a:ext cx="3611880" cy="960120"/>
          </a:xfrm>
          <a:prstGeom prst="roundRect">
            <a:avLst>
              <a:gd name="adj" fmla="val 7619"/>
            </a:avLst>
          </a:prstGeom>
          <a:solidFill>
            <a:srgbClr val="EEF5FB"/>
          </a:solidFill>
          <a:ln w="6350">
            <a:solidFill>
              <a:srgbClr val="D1E4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0" y="3127248"/>
            <a:ext cx="3611880" cy="256032"/>
          </a:xfrm>
          <a:prstGeom prst="roundRect">
            <a:avLst>
              <a:gd name="adj" fmla="val 28571"/>
            </a:avLst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138160" y="3127248"/>
            <a:ext cx="3429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 SUPPORTED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138160" y="3419856"/>
            <a:ext cx="3429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Two-hit hypothesis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65760" y="4206240"/>
            <a:ext cx="11430000" cy="777240"/>
          </a:xfrm>
          <a:prstGeom prst="roundRect">
            <a:avLst>
              <a:gd name="adj" fmla="val 9412"/>
            </a:avLst>
          </a:prstGeom>
          <a:solidFill>
            <a:srgbClr val="FDE8EC"/>
          </a:solidFill>
          <a:ln w="6350">
            <a:solidFill>
              <a:srgbClr val="D1E4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" y="4206240"/>
            <a:ext cx="73152" cy="77724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4360" y="4251960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Common misconception to address: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94360" y="448056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sometimes say 'the p53 gene is broken' — redirect to precision: p53 is the protein; TP53 is the gene. Requiring the correct terminology here matters — it's the vocabulary of the field.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0" y="6620256"/>
            <a:ext cx="121889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2: When Controls Break Down  ·  STEM Education &amp; Outreach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-914400"/>
            <a:ext cx="4572000" cy="4572000"/>
          </a:xfrm>
          <a:prstGeom prst="ellipse">
            <a:avLst/>
          </a:prstGeom>
          <a:solidFill>
            <a:srgbClr val="0E7C86">
              <a:alpha val="20000"/>
            </a:srgbClr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11430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RESEARCH CONNECTION  ·  40–43 MIN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365760" y="475488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Maya's Story Is Real Science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65760" y="1133856"/>
            <a:ext cx="1097280" cy="36576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298448"/>
            <a:ext cx="5943600" cy="4023360"/>
          </a:xfrm>
          <a:prstGeom prst="roundRect">
            <a:avLst>
              <a:gd name="adj" fmla="val 1818"/>
            </a:avLst>
          </a:prstGeom>
          <a:solidFill>
            <a:srgbClr val="1E4A6B"/>
          </a:solidFill>
          <a:ln w="6350">
            <a:solidFill>
              <a:srgbClr val="D1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389888"/>
            <a:ext cx="5577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SCIENCE BEHIND THE CASE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182880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FD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Survival rate — then: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514600" y="1828800"/>
            <a:ext cx="3566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Pediatric ALL: under 10% in the 1960s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48640" y="256032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FD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Survival rate — now: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514600" y="2560320"/>
            <a:ext cx="3566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90% — one of medicine's greatest success stories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48640" y="329184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FD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breakthrough: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514600" y="3291840"/>
            <a:ext cx="3566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 the molecular biology of checkpoint failure enabled targeted therapy development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48640" y="402336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FD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connection: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514600" y="4023360"/>
            <a:ext cx="3566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biology Maya's case just demonstrated: identifying which gene failed is step 1 of designing a treatment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583680" y="1298448"/>
            <a:ext cx="5303520" cy="4023360"/>
          </a:xfrm>
          <a:prstGeom prst="roundRect">
            <a:avLst>
              <a:gd name="adj" fmla="val 1818"/>
            </a:avLst>
          </a:prstGeom>
          <a:solidFill>
            <a:srgbClr val="1E4A6B"/>
          </a:solidFill>
          <a:ln w="6350">
            <a:solidFill>
              <a:srgbClr val="D1E4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66560" y="1389888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RESEARCHER VIDEO CLIP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8641080" y="2148840"/>
            <a:ext cx="1371600" cy="1371600"/>
          </a:xfrm>
          <a:prstGeom prst="ellipse">
            <a:avLst/>
          </a:prstGeom>
          <a:solidFill>
            <a:srgbClr val="0E7C86">
              <a:alpha val="80000"/>
            </a:srgbClr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41080" y="214884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6766560" y="365760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8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2-minute clip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A8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Pre-load and timestamp before class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766560" y="429768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clip, ask: 'What did this researcher say that connected to Maya's case?'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0" y="6620256"/>
            <a:ext cx="121889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2: When Controls Break Down  ·  STEM Education &amp; Outreach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11430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SYNTHESIS  ·  43–47 MIN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365760" y="475488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Putting It All Together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365760" y="1188720"/>
            <a:ext cx="11430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exit ticket, build the full causal chain as a class: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691640"/>
            <a:ext cx="2697480" cy="2286000"/>
          </a:xfrm>
          <a:prstGeom prst="roundRect">
            <a:avLst>
              <a:gd name="adj" fmla="val 3200"/>
            </a:avLst>
          </a:prstGeom>
          <a:solidFill>
            <a:srgbClr val="D8EEF1"/>
          </a:solidFill>
          <a:ln w="6350">
            <a:solidFill>
              <a:srgbClr val="D1E4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691640"/>
            <a:ext cx="2697480" cy="91440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440180" y="2331720"/>
            <a:ext cx="548640" cy="54864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40180" y="23317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2971800"/>
            <a:ext cx="2514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3401568"/>
            <a:ext cx="2514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Oncogene or TSG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063240" y="2468880"/>
            <a:ext cx="182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3246120" y="1691640"/>
            <a:ext cx="2697480" cy="2286000"/>
          </a:xfrm>
          <a:prstGeom prst="roundRect">
            <a:avLst>
              <a:gd name="adj" fmla="val 3200"/>
            </a:avLst>
          </a:prstGeom>
          <a:solidFill>
            <a:srgbClr val="EEF5FB"/>
          </a:solidFill>
          <a:ln w="6350">
            <a:solidFill>
              <a:srgbClr val="D1E4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46120" y="1691640"/>
            <a:ext cx="2697480" cy="91440"/>
          </a:xfrm>
          <a:prstGeom prst="roundRect">
            <a:avLst>
              <a:gd name="adj" fmla="val 50000"/>
            </a:avLst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20540" y="2331720"/>
            <a:ext cx="548640" cy="548640"/>
          </a:xfrm>
          <a:prstGeom prst="ellipse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20540" y="23317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337560" y="2971800"/>
            <a:ext cx="2514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 Failure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337560" y="3401568"/>
            <a:ext cx="2514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G1/S or G2/M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943600" y="2468880"/>
            <a:ext cx="182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6126480" y="1691640"/>
            <a:ext cx="2697480" cy="2286000"/>
          </a:xfrm>
          <a:prstGeom prst="roundRect">
            <a:avLst>
              <a:gd name="adj" fmla="val 3200"/>
            </a:avLst>
          </a:prstGeom>
          <a:solidFill>
            <a:srgbClr val="D8EEF1"/>
          </a:solidFill>
          <a:ln w="6350">
            <a:solidFill>
              <a:srgbClr val="D1E4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26480" y="1691640"/>
            <a:ext cx="2697480" cy="91440"/>
          </a:xfrm>
          <a:prstGeom prst="roundRect">
            <a:avLst>
              <a:gd name="adj" fmla="val 50000"/>
            </a:avLst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200900" y="2331720"/>
            <a:ext cx="548640" cy="54864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200900" y="23317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217920" y="2971800"/>
            <a:ext cx="2514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Uncontrolled Division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17920" y="3401568"/>
            <a:ext cx="2514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Cells bypass controls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823960" y="2468880"/>
            <a:ext cx="182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9006840" y="1691640"/>
            <a:ext cx="2697480" cy="2286000"/>
          </a:xfrm>
          <a:prstGeom prst="roundRect">
            <a:avLst>
              <a:gd name="adj" fmla="val 3200"/>
            </a:avLst>
          </a:prstGeom>
          <a:solidFill>
            <a:srgbClr val="EEF5FB"/>
          </a:solidFill>
          <a:ln w="6350">
            <a:solidFill>
              <a:srgbClr val="D1E4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006840" y="1691640"/>
            <a:ext cx="2697480" cy="9144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081260" y="2331720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081260" y="23317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9098280" y="2971800"/>
            <a:ext cx="2514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Cancer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098280" y="3401568"/>
            <a:ext cx="2514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Accumulated mutations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365760" y="4114800"/>
            <a:ext cx="11430000" cy="1645920"/>
          </a:xfrm>
          <a:prstGeom prst="roundRect">
            <a:avLst>
              <a:gd name="adj" fmla="val 4444"/>
            </a:avLst>
          </a:prstGeom>
          <a:solidFill>
            <a:srgbClr val="FFFBF0"/>
          </a:solidFill>
          <a:ln w="6350">
            <a:solidFill>
              <a:srgbClr val="D1E4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4114800"/>
            <a:ext cx="73152" cy="1645920"/>
          </a:xfrm>
          <a:prstGeom prst="rect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" y="4187952"/>
            <a:ext cx="10789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 question (ask the class, then move to exit ticket):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94360" y="4498848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"We followed Maya's case from mutation all the way to cancer. Now — what would need to happen for a treatment to work? What step in this chain would a drug need to interrupt?"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0" y="6620256"/>
            <a:ext cx="121889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2: When Controls Break Down  ·  STEM Education &amp; Outreach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0" y="4114800"/>
            <a:ext cx="3657600" cy="3657600"/>
          </a:xfrm>
          <a:prstGeom prst="ellipse">
            <a:avLst/>
          </a:prstGeom>
          <a:solidFill>
            <a:srgbClr val="F0A500">
              <a:alpha val="12000"/>
            </a:srgbClr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11430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 EXIT TICKET + CLOSE  ·  47–50 MIN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365760" y="475488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Go…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65760" y="1133856"/>
            <a:ext cx="1005840" cy="36576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298448"/>
            <a:ext cx="6217920" cy="4114800"/>
          </a:xfrm>
          <a:prstGeom prst="roundRect">
            <a:avLst>
              <a:gd name="adj" fmla="val 1778"/>
            </a:avLst>
          </a:prstGeom>
          <a:solidFill>
            <a:srgbClr val="1E4A6B"/>
          </a:solidFill>
          <a:ln w="6350">
            <a:solidFill>
              <a:srgbClr val="D1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389888"/>
            <a:ext cx="5852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TICKET  (Complete before leaving)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02920" y="1783080"/>
            <a:ext cx="5943600" cy="1051560"/>
          </a:xfrm>
          <a:prstGeom prst="roundRect">
            <a:avLst>
              <a:gd name="adj" fmla="val 6957"/>
            </a:avLst>
          </a:prstGeom>
          <a:solidFill>
            <a:srgbClr val="162A40"/>
          </a:solidFill>
          <a:ln w="6350">
            <a:solidFill>
              <a:srgbClr val="D1E4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12648" y="2144268"/>
            <a:ext cx="329184" cy="329184"/>
          </a:xfrm>
          <a:prstGeom prst="ellipse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12648" y="184708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24128" y="1810512"/>
            <a:ext cx="5303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cell cycle checkpoint failed in Maya's case? Name the specific phase.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303520" y="2560320"/>
            <a:ext cx="1005840" cy="201168"/>
          </a:xfrm>
          <a:prstGeom prst="roundRect">
            <a:avLst>
              <a:gd name="adj" fmla="val 27273"/>
            </a:avLst>
          </a:prstGeom>
          <a:solidFill>
            <a:srgbClr val="0E7C86">
              <a:alpha val="70000"/>
            </a:srgbClr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03520" y="2560320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FD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02920" y="2971800"/>
            <a:ext cx="5943600" cy="1051560"/>
          </a:xfrm>
          <a:prstGeom prst="roundRect">
            <a:avLst>
              <a:gd name="adj" fmla="val 6957"/>
            </a:avLst>
          </a:prstGeom>
          <a:solidFill>
            <a:srgbClr val="162A40"/>
          </a:solidFill>
          <a:ln w="6350">
            <a:solidFill>
              <a:srgbClr val="D1E4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2648" y="3332988"/>
            <a:ext cx="329184" cy="329184"/>
          </a:xfrm>
          <a:prstGeom prst="ellipse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2648" y="303580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24128" y="2999232"/>
            <a:ext cx="5303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two-hit hypothesis requires both copies of a gene to be inactivated. Which type of gene does this apply to?  A) oncogene  B) tumor suppressor  C) CDK  D) cyclin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303520" y="3749040"/>
            <a:ext cx="1005840" cy="201168"/>
          </a:xfrm>
          <a:prstGeom prst="roundRect">
            <a:avLst>
              <a:gd name="adj" fmla="val 27273"/>
            </a:avLst>
          </a:prstGeom>
          <a:solidFill>
            <a:srgbClr val="0E7C86">
              <a:alpha val="70000"/>
            </a:srgbClr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303520" y="3749040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FD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502920" y="4160520"/>
            <a:ext cx="5943600" cy="1051560"/>
          </a:xfrm>
          <a:prstGeom prst="roundRect">
            <a:avLst>
              <a:gd name="adj" fmla="val 6957"/>
            </a:avLst>
          </a:prstGeom>
          <a:solidFill>
            <a:srgbClr val="162A40"/>
          </a:solidFill>
          <a:ln w="6350">
            <a:solidFill>
              <a:srgbClr val="D1E4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2648" y="4521708"/>
            <a:ext cx="329184" cy="329184"/>
          </a:xfrm>
          <a:prstGeom prst="ellipse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2648" y="422452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024128" y="4187952"/>
            <a:ext cx="5303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one sentence: explain why identifying a specific checkpoint failure matters for treatment.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303520" y="4937760"/>
            <a:ext cx="1005840" cy="201168"/>
          </a:xfrm>
          <a:prstGeom prst="roundRect">
            <a:avLst>
              <a:gd name="adj" fmla="val 27273"/>
            </a:avLst>
          </a:prstGeom>
          <a:solidFill>
            <a:srgbClr val="0E7C86">
              <a:alpha val="70000"/>
            </a:srgbClr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303520" y="4937760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FD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answer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6812280" y="1298448"/>
            <a:ext cx="5029200" cy="1920240"/>
          </a:xfrm>
          <a:prstGeom prst="roundRect">
            <a:avLst>
              <a:gd name="adj" fmla="val 3810"/>
            </a:avLst>
          </a:prstGeom>
          <a:solidFill>
            <a:srgbClr val="1E4A6B"/>
          </a:solidFill>
          <a:ln w="6350">
            <a:solidFill>
              <a:srgbClr val="D1E4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995160" y="1389888"/>
            <a:ext cx="4663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TONIGHT'S PREP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6967728" y="1783080"/>
            <a:ext cx="182880" cy="18288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223760" y="1737360"/>
            <a:ext cx="4480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Exit Ticket in your guided notes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967728" y="2240280"/>
            <a:ext cx="182880" cy="18288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223760" y="2194560"/>
            <a:ext cx="4480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Sections 1–4 of the module if you need a reference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967728" y="2697480"/>
            <a:ext cx="182880" cy="18288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23760" y="2651760"/>
            <a:ext cx="4480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ready to explain your answer to Question 3 out loud next class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812280" y="3337560"/>
            <a:ext cx="5029200" cy="2057400"/>
          </a:xfrm>
          <a:prstGeom prst="roundRect">
            <a:avLst>
              <a:gd name="adj" fmla="val 3556"/>
            </a:avLst>
          </a:prstGeom>
          <a:solidFill>
            <a:srgbClr val="1E4A6B"/>
          </a:solidFill>
          <a:ln w="6350">
            <a:solidFill>
              <a:srgbClr val="D1E4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995160" y="3401568"/>
            <a:ext cx="4663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LOOKING AHEAD — LESSON 3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6995160" y="3730752"/>
            <a:ext cx="4663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A8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"We know which checkpoint failed in Maya's case. Next lesson: what makes a mutation happen in the first place, and why does it matter whether it's inherited or acquired?"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0" y="6620256"/>
            <a:ext cx="121889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Division Gone Wrong  ·  Lesson 2 of 4  ·  STEM Education &amp; Outreach  ·  Grades 9–10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2026-04-18T21:46:53Z</dcterms:created>
  <dcterms:modified xsi:type="dcterms:W3CDTF">2026-04-18T21:46:53Z</dcterms:modified>
</cp:coreProperties>
</file>