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64" r:id="rId10"/>
    <p:sldId id="265" r:id="rId11"/>
    <p:sldId id="266" r:id="rId12"/>
    <p:sldId id="267" r:id="rId13"/>
    <p:sldId id="268" r:id="rId14"/>
    <p:sldId id="271" r:id="rId15"/>
    <p:sldId id="272" r:id="rId16"/>
    <p:sldId id="269" r:id="rId17"/>
    <p:sldId id="270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32"/>
    <p:restoredTop sz="94589"/>
  </p:normalViewPr>
  <p:slideViewPr>
    <p:cSldViewPr snapToGrid="0" snapToObjects="1">
      <p:cViewPr varScale="1">
        <p:scale>
          <a:sx n="99" d="100"/>
          <a:sy n="99" d="100"/>
        </p:scale>
        <p:origin x="192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0075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Teacher Prompt (3 min):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students turn-and-talk for 60 seconds. Then call on 2–3 pairs. Don't correct yet — just collect ideas. The lesson will give them the answer (checkpoints). Use this to surface prior knowledge and misconceptions.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Point students to each gate: the location in the cycle (mini wheel), what it checks, and what happens if it PASSES ✓ vs FAILS ✗.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dirty="0">
                <a:solidFill>
                  <a:srgbClr val="AA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Next slide walks through Figure 5.1 — the multi-hit hypothesis.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Hide slide from live facilitation.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Hide slide from live facilitation.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Hide slide from live facilitation.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 EDUCATION &amp; OUTREACH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Normal Cell Cycle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A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Facilitation Slides — In-Class Activities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5486400"/>
            <a:ext cx="10698480" cy="594360"/>
          </a:xfrm>
          <a:prstGeom prst="rect">
            <a:avLst/>
          </a:prstGeom>
          <a:solidFill>
            <a:srgbClr val="0E1F35"/>
          </a:solidFill>
          <a:ln w="12700">
            <a:solidFill>
              <a:srgbClr val="0E1F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54864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50–60 min  •  </a:t>
            </a:r>
            <a:r>
              <a:rPr lang="en-US" sz="13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students complete the digital lesson  •  </a:t>
            </a:r>
            <a:r>
              <a:rPr lang="en-US" sz="13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Bloom's: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&amp; Understand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students will master today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5486400" cy="4754880"/>
          </a:xfrm>
          <a:prstGeom prst="rect">
            <a:avLst/>
          </a:prstGeom>
          <a:solidFill>
            <a:srgbClr val="EEF5FB"/>
          </a:solidFill>
          <a:ln w="12700">
            <a:solidFill>
              <a:srgbClr val="D1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2821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LEARNING OBJECTIVES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lesson, students will be able to: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00100" lvl="1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&amp; describe the four phases of the cell cycle (G1, S, G2, M)</a:t>
            </a:r>
            <a:endParaRPr lang="en-US" sz="2000" dirty="0"/>
          </a:p>
          <a:p>
            <a:pPr marL="800100" lvl="1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six stages of mitosis using the PMAT mnemonic</a:t>
            </a:r>
            <a:endParaRPr lang="en-US" sz="2000" dirty="0"/>
          </a:p>
          <a:p>
            <a:pPr marL="800100" lvl="1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cytokinesis is and how it differs in animals vs. plants</a:t>
            </a:r>
            <a:endParaRPr lang="en-US" sz="2000" dirty="0"/>
          </a:p>
          <a:p>
            <a:pPr marL="800100" lvl="1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three major checkpoints and what each verifies</a:t>
            </a:r>
            <a:endParaRPr lang="en-US" sz="2000" dirty="0"/>
          </a:p>
          <a:p>
            <a:pPr marL="800100" lvl="1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multi-hit hypothesis for cancer development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17920" y="1508760"/>
            <a:ext cx="54864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0" y="1645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TODAY'S FLOW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0" y="21031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&amp; Recall (5 min)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0" y="235915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on prior viewing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2761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58000" y="27614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&amp; Vocabulary (10 min)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0" y="30175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sort + key terms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0" y="341985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58000" y="341985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 of Mitosis (10 min)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36758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PMAT together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407822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858000" y="40782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Decision-Gate Checkpoints (15 min)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0" y="433425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'Pass or Fail?'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473659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58000" y="473659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&amp; Multi-Hit (10 min)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0" y="49926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+ Figure 5.1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5394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58000" y="539496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(5 min)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58000" y="565099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understanding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AA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Here's the question…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does your body know</a:t>
            </a:r>
            <a:endParaRPr lang="en-US" sz="5400" dirty="0"/>
          </a:p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make new cells?"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1371600" y="4937760"/>
            <a:ext cx="9418320" cy="822960"/>
          </a:xfrm>
          <a:prstGeom prst="rect">
            <a:avLst/>
          </a:prstGeom>
          <a:solidFill>
            <a:srgbClr val="0E1F35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pPr algn="ctr"/>
            <a:r>
              <a:rPr lang="en-US" sz="4400" dirty="0">
                <a:solidFill>
                  <a:schemeClr val="bg1"/>
                </a:solidFill>
              </a:rPr>
              <a:t>60 sec.: Turn and talk with your partner.</a:t>
            </a:r>
          </a:p>
        </p:txBody>
      </p:sp>
      <p:sp>
        <p:nvSpPr>
          <p:cNvPr id="9" name="Text 7"/>
          <p:cNvSpPr/>
          <p:nvPr/>
        </p:nvSpPr>
        <p:spPr>
          <a:xfrm>
            <a:off x="1554480" y="502920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RECAP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1.1 — Why Cell Division Matters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653" y="1463040"/>
            <a:ext cx="7854215" cy="3108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4937760"/>
            <a:ext cx="11247120" cy="1417320"/>
          </a:xfrm>
          <a:prstGeom prst="rect">
            <a:avLst/>
          </a:prstGeom>
          <a:solidFill>
            <a:srgbClr val="EEF5FB"/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Key Takeaways for Discussion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539496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Both daughter cells are </a:t>
            </a: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(diploid, 2n)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same DNA, same genes. This is </a:t>
            </a:r>
            <a:r>
              <a:rPr lang="en-US" sz="12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mitosis, not meiosis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</a:t>
            </a:r>
            <a:r>
              <a:rPr lang="en-US" sz="1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cleavage furrow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(dashed gold line) is pinched inward by the </a:t>
            </a:r>
            <a:r>
              <a:rPr lang="en-US" sz="1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contractile ring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(gold arrows).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Division takes ~24 hours. Errors get passed to both daughters — </a:t>
            </a:r>
            <a:r>
              <a:rPr lang="en-US" sz="1200" b="1" dirty="0">
                <a:solidFill>
                  <a:srgbClr val="DC1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 matters.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RECAP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2.1 — The Cell Cycle: Four Phases + G0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503680"/>
            <a:ext cx="6126480" cy="4765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progresses CLOCKWISE: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0" y="1965960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58368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360920" y="194767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Phase 1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60920" y="22585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grows &amp; does its job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0" y="2715768"/>
            <a:ext cx="640080" cy="640080"/>
          </a:xfrm>
          <a:prstGeom prst="ellipse">
            <a:avLst/>
          </a:prstGeom>
          <a:solidFill>
            <a:srgbClr val="4FA8D8"/>
          </a:solidFill>
          <a:ln w="12700">
            <a:solidFill>
              <a:srgbClr val="4FA8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583680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360920" y="26974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360920" y="300837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is copied — every chromosome doubled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83680" y="3465576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583680" y="34655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360920" y="344728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Phase 2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360920" y="375818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prep: check DNA, make division proteins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583680" y="4215384"/>
            <a:ext cx="640080" cy="64008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583680" y="42153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360920" y="419709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Mitosis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60920" y="4507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Chromosomes separate; nucleus divides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583680" y="4965192"/>
            <a:ext cx="640080" cy="640080"/>
          </a:xfrm>
          <a:prstGeom prst="ellipse">
            <a:avLst/>
          </a:prstGeom>
          <a:solidFill>
            <a:srgbClr val="DC143C"/>
          </a:solidFill>
          <a:ln w="12700">
            <a:solidFill>
              <a:srgbClr val="DC14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583680" y="49651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7360920" y="494690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Cytokinesis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360920" y="5257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physically splits in two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583680" y="5806440"/>
            <a:ext cx="5303520" cy="502920"/>
          </a:xfrm>
          <a:prstGeom prst="rect">
            <a:avLst/>
          </a:prstGeom>
          <a:solidFill>
            <a:srgbClr val="F0F0F0"/>
          </a:solidFill>
          <a:ln w="12700">
            <a:solidFill>
              <a:srgbClr val="D1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720840" y="5806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G0 (resting):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can exit to G0. Many nerve &amp; muscle cells stay there permanently.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(8 MIN)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Round-Robin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029200" cy="4754880"/>
          </a:xfrm>
          <a:prstGeom prst="rect">
            <a:avLst/>
          </a:prstGeom>
          <a:solidFill>
            <a:srgbClr val="EEF5FB"/>
          </a:solidFill>
          <a:ln w="12700">
            <a:solidFill>
              <a:srgbClr val="D1E4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40080" y="16459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RUN IT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partner activity using the 9 vocabulary terms from the lesson's Key Structures card.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00100" lvl="1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A picks a term</a:t>
            </a:r>
            <a:endParaRPr lang="en-US" sz="2400" dirty="0"/>
          </a:p>
          <a:p>
            <a:pPr marL="800100" lvl="1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 explains it in their own words</a:t>
            </a:r>
            <a:endParaRPr lang="en-US" sz="2400" dirty="0"/>
          </a:p>
          <a:p>
            <a:pPr marL="800100" lvl="1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A confirms or coaches</a:t>
            </a:r>
            <a:endParaRPr lang="en-US" sz="2400" dirty="0"/>
          </a:p>
          <a:p>
            <a:pPr marL="800100" lvl="1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roles, pick a new term</a:t>
            </a:r>
            <a:endParaRPr lang="en-US" sz="2400" dirty="0"/>
          </a:p>
          <a:p>
            <a:pPr marL="800100" lvl="1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all 9 terms covered (~5 min)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760720" y="16459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 KEY TERMS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60720" y="2148840"/>
            <a:ext cx="1874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760720" y="21488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Chromosome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0" y="2148840"/>
            <a:ext cx="1874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0" y="21488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Sister chromatids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784080" y="2148840"/>
            <a:ext cx="1874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784080" y="21488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Centromere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3474720"/>
            <a:ext cx="1874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760720" y="347472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Kinetochore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0" y="3474720"/>
            <a:ext cx="1874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772400" y="347472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Spindle fibers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784080" y="3474720"/>
            <a:ext cx="1874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784080" y="347472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Centrosome / Centrioles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60720" y="4800600"/>
            <a:ext cx="1874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760720" y="480060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Nuclear envelope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772400" y="4800600"/>
            <a:ext cx="1874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772400" y="480060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Cleavage furrow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784080" y="4800600"/>
            <a:ext cx="1874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784080" y="480060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Contractile ring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RECAP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2.2 — The Stages of Mitosis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11247120" cy="5029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PMAT 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rophase →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etaphase →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naphase →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elophase</a:t>
            </a:r>
            <a:endParaRPr lang="en-US" sz="2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433" y="2103120"/>
            <a:ext cx="9634654" cy="3657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📺  REPLAY OPTION: Show Video 1.3 (Amoeba Sisters PMAT, 7:55) if students need a refresher — pair with Figure 2.2 above.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RECAP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Cytokinesis: Splitting the Cell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5669280" cy="4846320"/>
          </a:xfrm>
          <a:prstGeom prst="rect">
            <a:avLst/>
          </a:prstGeom>
          <a:solidFill>
            <a:srgbClr val="EEF5FB"/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1600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🐾  ANIMAL CELLS — Cleavage Furrow</a:t>
            </a:r>
            <a:endParaRPr lang="en-US" sz="1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011680"/>
            <a:ext cx="5143500" cy="2286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28650" y="445008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Contractile ring forms at the equator (actin + myosin)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tightens like a drawstring — pinches inward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Membrane splits into two daughter cells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26480" y="1508760"/>
            <a:ext cx="5669280" cy="4846320"/>
          </a:xfrm>
          <a:prstGeom prst="rect">
            <a:avLst/>
          </a:prstGeom>
          <a:solidFill>
            <a:srgbClr val="F0FAF7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600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  PLANT CELLS — Cell Plate</a:t>
            </a:r>
            <a:endParaRPr lang="en-US" sz="16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9370" y="2011680"/>
            <a:ext cx="5143500" cy="22860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92240" y="4434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cell walls can't pinch — too stiff!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Vesicles carry wall materials to the center and fuse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cell wall builds from the inside out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457200" y="6419088"/>
            <a:ext cx="11247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📺  Watch Video 1.4 — actual sea urchin embryo cytokinesis (real microscopy footage)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RECAP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7680" y="68580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3.1 — The Three Checkpoint Gates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6350" y="1109418"/>
            <a:ext cx="9469780" cy="538282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(12 MIN)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or FAIL? — Checkpoint Decisions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11247120" cy="777240"/>
          </a:xfrm>
          <a:prstGeom prst="rect">
            <a:avLst/>
          </a:prstGeom>
          <a:solidFill>
            <a:srgbClr val="EEF5FB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554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works: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each scenario aloud. Students hold up GREEN (PASS) or RED (FAIL) cards (or thumbs up/down). Then </a:t>
            </a: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one student to explain WHY?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548640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1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0080" y="2697480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274320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34440" y="2743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G1/S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743200"/>
            <a:ext cx="1005840" cy="411480"/>
          </a:xfrm>
          <a:prstGeom prst="roundRect">
            <a:avLst>
              <a:gd name="adj" fmla="val 44444"/>
            </a:avLst>
          </a:prstGeom>
          <a:solidFill>
            <a:srgbClr val="DC143C"/>
          </a:solidFill>
          <a:ln w="12700">
            <a:solidFill>
              <a:srgbClr val="DC14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27432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3291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was damaged by UV light from a sunburn.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37216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DNA must be repaired before S phase.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2514600"/>
            <a:ext cx="548640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1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0" y="2697480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093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903720" y="274320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903720" y="2743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G2/M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424160" y="2743200"/>
            <a:ext cx="1005840" cy="411480"/>
          </a:xfrm>
          <a:prstGeom prst="roundRect">
            <a:avLst>
              <a:gd name="adj" fmla="val 44444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424160" y="27432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55080" y="3291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DNA was successfully replicated; no damage detected.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55080" y="37216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Cell can enter mitosis safely.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297680"/>
            <a:ext cx="548640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1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40080" y="4480560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008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234440" y="452628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234440" y="4526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Spindle (M)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54880" y="4526280"/>
            <a:ext cx="1005840" cy="411480"/>
          </a:xfrm>
          <a:prstGeom prst="roundRect">
            <a:avLst>
              <a:gd name="adj" fmla="val 44444"/>
            </a:avLst>
          </a:prstGeom>
          <a:solidFill>
            <a:srgbClr val="DC143C"/>
          </a:solidFill>
          <a:ln w="12700">
            <a:solidFill>
              <a:srgbClr val="DC14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754880" y="45262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5800" y="5074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chromosome's kinetochore isn't attached to a spindle fiber.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5800" y="55046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Anaphase paused — would split chromosomes wrong otherwise.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26480" y="4297680"/>
            <a:ext cx="548640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1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309360" y="4480560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30936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903720" y="452628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903720" y="4526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G1/S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0424160" y="4526280"/>
            <a:ext cx="1005840" cy="411480"/>
          </a:xfrm>
          <a:prstGeom prst="roundRect">
            <a:avLst>
              <a:gd name="adj" fmla="val 44444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10424160" y="45262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55080" y="5074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is healthy, has nutrients, and growth signals are present.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355080" y="55046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Cell commits to dividing — enters S phase.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RECAP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4.1 — The Molecular Gatekeepers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3885" t="16578" r="10924" b="23742"/>
          <a:stretch>
            <a:fillRect/>
          </a:stretch>
        </p:blipFill>
        <p:spPr>
          <a:xfrm>
            <a:off x="1219629" y="1254424"/>
            <a:ext cx="9630821" cy="34347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45720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Nicknames to help students remember: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4983480"/>
            <a:ext cx="26974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7200" y="4983480"/>
            <a:ext cx="269748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57200" y="4983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p53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5440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Guardian"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94360" y="57150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DNA damage. Can trigger apoptosis.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337560" y="4983480"/>
            <a:ext cx="26974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337560" y="4983480"/>
            <a:ext cx="2697480" cy="41148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3337560" y="4983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Cyclins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37560" y="5440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Keys"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474720" y="57150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CDKs at specific times.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217920" y="4983480"/>
            <a:ext cx="26974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217920" y="4983480"/>
            <a:ext cx="2697480" cy="4114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217920" y="4983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CDKs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17920" y="5440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Engines"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355080" y="57150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alone; powerful when paired.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098280" y="4983480"/>
            <a:ext cx="26974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5A89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9098280" y="4983480"/>
            <a:ext cx="2697480" cy="411480"/>
          </a:xfrm>
          <a:prstGeom prst="rect">
            <a:avLst/>
          </a:prstGeom>
          <a:solidFill>
            <a:srgbClr val="5A89AC"/>
          </a:solidFill>
          <a:ln w="12700">
            <a:solidFill>
              <a:srgbClr val="5A89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9098280" y="4983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Mad2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098280" y="5440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A8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"Brake Pedal"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235440" y="57150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anaphase back (spindle checkpoint).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11247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"If your cells have all this quality control,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anyone get cancer?"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40080" y="4114800"/>
            <a:ext cx="3474720" cy="1371600"/>
          </a:xfrm>
          <a:prstGeom prst="rect">
            <a:avLst/>
          </a:prstGeom>
          <a:solidFill>
            <a:srgbClr val="0E1F35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4526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are good — but not perfect.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297680" y="4114800"/>
            <a:ext cx="3474720" cy="1371600"/>
          </a:xfrm>
          <a:prstGeom prst="rect">
            <a:avLst/>
          </a:prstGeom>
          <a:solidFill>
            <a:srgbClr val="0E1F35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056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80560" y="4526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 accumulate over years and decades.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7955280" y="4114800"/>
            <a:ext cx="3474720" cy="1371600"/>
          </a:xfrm>
          <a:prstGeom prst="rect">
            <a:avLst/>
          </a:prstGeom>
          <a:solidFill>
            <a:srgbClr val="0E1F35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13816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38160" y="4526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MULTIPLE checkpoints fail, no backup remains.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RECAP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852670" y="22860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5.1 — The Multi-Hit Hypothesis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918" y="709313"/>
            <a:ext cx="8955279" cy="531996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6029281"/>
            <a:ext cx="11247120" cy="435527"/>
          </a:xfrm>
          <a:prstGeom prst="rect">
            <a:avLst/>
          </a:prstGeom>
          <a:solidFill>
            <a:srgbClr val="FFF8E6"/>
          </a:solidFill>
          <a:ln w="1905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5904144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Big idea: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typically takes </a:t>
            </a:r>
            <a:r>
              <a:rPr lang="en-US" sz="1300" b="1" dirty="0">
                <a:solidFill>
                  <a:srgbClr val="DC1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10–20+ years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develop because mutations must accumulate. This is why cancer risk increases with age.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(5 MIN)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11247120" cy="1371600"/>
          </a:xfrm>
          <a:prstGeom prst="rect">
            <a:avLst/>
          </a:prstGeom>
          <a:solidFill>
            <a:srgbClr val="EEF5FB"/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71600" y="16459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four phases of the cell cycle in order, and describe what happens in each in ONE sentence.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11247120" cy="1371600"/>
          </a:xfrm>
          <a:prstGeom prst="rect">
            <a:avLst/>
          </a:prstGeom>
          <a:solidFill>
            <a:srgbClr val="EEF5FB"/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3154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G1/S checkpoint check for? What happens if a cell FAILS this checkpoint?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4572000"/>
            <a:ext cx="11247120" cy="1371600"/>
          </a:xfrm>
          <a:prstGeom prst="rect">
            <a:avLst/>
          </a:prstGeom>
          <a:solidFill>
            <a:srgbClr val="EEF5FB"/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" y="475488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4754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71600" y="46634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cancer typically take 10–20+ years to develop? Use the term "multi-hit hypothesis" in your answer.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Lesson 2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486400" cy="4709160"/>
          </a:xfrm>
          <a:prstGeom prst="rect">
            <a:avLst/>
          </a:prstGeom>
          <a:solidFill>
            <a:srgbClr val="EEF5FB"/>
          </a:solidFill>
          <a:ln w="254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(today)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06032" y="2423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i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&amp; WHY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914400" y="26517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phases?</a:t>
            </a:r>
            <a:endParaRPr lang="en-US" sz="2400" dirty="0"/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checkpoints check?</a:t>
            </a:r>
            <a:endParaRPr lang="en-US" sz="2400" dirty="0"/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cell need this?</a:t>
            </a:r>
            <a:endParaRPr lang="en-US" sz="2400" dirty="0"/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cancer (high level)?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5486400" cy="4709160"/>
          </a:xfrm>
          <a:prstGeom prst="rect">
            <a:avLst/>
          </a:prstGeom>
          <a:solidFill>
            <a:srgbClr val="FFF8E6"/>
          </a:solidFill>
          <a:ln w="254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691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2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(next)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217920" y="235619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i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actually works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937376" y="2651760"/>
            <a:ext cx="562978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exactly does p53 sense damage?</a:t>
            </a:r>
            <a:endParaRPr lang="en-US" sz="2400" dirty="0"/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cyclin-CDK pairs act as a clock?</a:t>
            </a:r>
            <a:endParaRPr lang="en-US" sz="2400" dirty="0"/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mutations cause which cancers?</a:t>
            </a:r>
            <a:endParaRPr lang="en-US" sz="2400" dirty="0"/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treatments target this system?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NOTES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 These Misconceptions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11247120" cy="1051560"/>
          </a:xfrm>
          <a:prstGeom prst="rect">
            <a:avLst/>
          </a:prstGeom>
          <a:solidFill>
            <a:srgbClr val="FAFBFC"/>
          </a:solidFill>
          <a:ln w="12700">
            <a:solidFill>
              <a:srgbClr val="D1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1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"Interphase is rest time."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057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Interphase is the BUSIEST phase — cells grow, copy DNA, prepare proteins.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11247120" cy="1051560"/>
          </a:xfrm>
          <a:prstGeom prst="rect">
            <a:avLst/>
          </a:prstGeom>
          <a:solidFill>
            <a:srgbClr val="FAFBFC"/>
          </a:solidFill>
          <a:ln w="12700">
            <a:solidFill>
              <a:srgbClr val="D1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1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"DNA copying happens instantly."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246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 phase takes hours. The cell copies ~3 billion base pairs with high accuracy.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11247120" cy="1051560"/>
          </a:xfrm>
          <a:prstGeom prst="rect">
            <a:avLst/>
          </a:prstGeom>
          <a:solidFill>
            <a:srgbClr val="FAFBFC"/>
          </a:solidFill>
          <a:ln w="12700">
            <a:solidFill>
              <a:srgbClr val="D1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1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"One mutation = cancer."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434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Cancer requires MULTIPLE checkpoint failures. Backups usually catch single mutations.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5120640"/>
            <a:ext cx="11247120" cy="1051560"/>
          </a:xfrm>
          <a:prstGeom prst="rect">
            <a:avLst/>
          </a:prstGeom>
          <a:solidFill>
            <a:srgbClr val="FAFBFC"/>
          </a:solidFill>
          <a:ln w="12700">
            <a:solidFill>
              <a:srgbClr val="D1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1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"Mitosis = cell division (the whole thing)."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Mitosis = nuclear division. Cytokinesis splits the cell. Both are needed.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320040"/>
          </a:xfrm>
          <a:prstGeom prst="roundRect">
            <a:avLst>
              <a:gd name="adj" fmla="val 42857"/>
            </a:avLst>
          </a:prstGeom>
          <a:solidFill>
            <a:srgbClr val="EBF7F8"/>
          </a:solidFill>
          <a:ln w="12700">
            <a:solidFill>
              <a:srgbClr val="EBF7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NOTES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Differentiation: Meet Every Student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66019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601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486400" cy="4709160"/>
          </a:xfrm>
          <a:prstGeom prst="rect">
            <a:avLst/>
          </a:prstGeom>
          <a:solidFill>
            <a:srgbClr val="EEF5FB"/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🪜  IF STUDENTS NEED MORE SUPPORT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14884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 key vocabulary visually before the lesson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a stronger partner for the round-robin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Re-show Video 1.3 (Amoeba Sisters Mitosis) at half speed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phase cards to physically arrange in order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lesson's Quick Reference table — skip the long stage descriptions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the gate metaphor — defer molecular detail to Lesson 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486400" cy="4709160"/>
          </a:xfrm>
          <a:prstGeom prst="rect">
            <a:avLst/>
          </a:prstGeom>
          <a:solidFill>
            <a:srgbClr val="FFF8E6"/>
          </a:solidFill>
          <a:ln w="1905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IF STUDENTS FINISH EARLY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214884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 body cell that stays in G0 forever — and explain why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spindle checkpoint didn't exist, what would happen?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own checkpoint analogy (other than security gates)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might children's cells divide more frequently than adults'?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how chemotherapy targets the cell cycle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about Henrietta Lacks &amp; HeLa cells (cells that never stop)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facilitating!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A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• Lesson 1: The Normal Cell Cycle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114800"/>
            <a:ext cx="10698480" cy="1645920"/>
          </a:xfrm>
          <a:prstGeom prst="rect">
            <a:avLst/>
          </a:prstGeom>
          <a:solidFill>
            <a:srgbClr val="0E1F35"/>
          </a:solidFill>
          <a:ln w="12700">
            <a:solidFill>
              <a:srgbClr val="0E1F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4297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LESSON 1 MATERIALS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46634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Student Lesson:  </a:t>
            </a:r>
            <a:r>
              <a:rPr lang="en-US" sz="1200" dirty="0">
                <a:solidFill>
                  <a:srgbClr val="AA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Student_Lesson_TheNormalCellCycle.html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Guided Notes:  </a:t>
            </a:r>
            <a:r>
              <a:rPr lang="en-US" sz="1200" dirty="0">
                <a:solidFill>
                  <a:srgbClr val="AA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lesson1-guided-notes.html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Card Sort Activity:  </a:t>
            </a:r>
            <a:r>
              <a:rPr lang="en-US" sz="1200" dirty="0">
                <a:solidFill>
                  <a:srgbClr val="AA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lesson1-card-sort.html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Facilitation Guide:  </a:t>
            </a:r>
            <a:r>
              <a:rPr lang="en-US" sz="1200" dirty="0">
                <a:solidFill>
                  <a:srgbClr val="AA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Teacher_Facilitation_Guide_Lesson1.docx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cures. Saving children. — St. Jude Children's Research Hospital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1735</Words>
  <Application>Microsoft Macintosh PowerPoint</Application>
  <PresentationFormat>Widescreen</PresentationFormat>
  <Paragraphs>262</Paragraphs>
  <Slides>18</Slides>
  <Notes>18</Notes>
  <HiddenSlides>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Cell Division Gone Wrong — Lesson 1</dc:title>
  <dc:subject>PptxGenJS Presentation</dc:subject>
  <dc:creator>St. Jude STEMM Education &amp; Outreach</dc:creator>
  <cp:lastModifiedBy>LASHAUDRA  COX</cp:lastModifiedBy>
  <cp:revision>2</cp:revision>
  <dcterms:created xsi:type="dcterms:W3CDTF">2026-04-20T23:53:59Z</dcterms:created>
  <dcterms:modified xsi:type="dcterms:W3CDTF">2026-04-21T04:40:20Z</dcterms:modified>
</cp:coreProperties>
</file>