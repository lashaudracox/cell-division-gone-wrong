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JUDE STEMM EDUCATION &amp; OUTREACH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 Cell Cycle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Facilitation Slides — In-Class Activities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10698480" cy="594360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 min  •  </a:t>
            </a:r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students complete the digital lesson  •  </a:t>
            </a:r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Bloom's: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&amp; Understand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will master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LEARNING 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lesson, students will be able to: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&amp; describe the four phases of the cell cycle (G1, S, G2, M)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six stages of mitosis using the PMAT mnemonic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cytokinesis is and how it differs in animals vs. plants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major checkpoints and what each verifies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multi-hit hypothesis for cancer development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TODAY'S FLOW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240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Recall (5 min)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on prior viewing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&amp; Vocabulary (10 min)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0906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sort + key terms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429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34290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 of Mitosis (10 min)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3685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PMAT together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402336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Decision-Gate Checkpoints (15 min)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4279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'Pass or Fail?'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617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4617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&amp; Multi-Hit (10 min)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48737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+ Figure 5.1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5212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5212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(5 min)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5468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question…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your body know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make new cells?"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371600" y="4937760"/>
            <a:ext cx="9418320" cy="1280160"/>
          </a:xfrm>
          <a:prstGeom prst="rect">
            <a:avLst/>
          </a:prstGeom>
          <a:solidFill>
            <a:srgbClr val="0E1F3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5029200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Teacher Prompt (3 min):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students turn-and-talk for 60 seconds. Then call on 2–3 pairs. Don't correct yet — just collect ideas. The lesson will give them the answer (checkpoints). Use this to surface prior knowledge and misconceptions.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Cell Division Matters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611880" cy="292608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🌱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Babies grow into adults. Children get taller. New cells are made constantly.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737360"/>
            <a:ext cx="3611880" cy="292608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🩹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heals after a cut. Bone mends after a break. Mitosis replaces damaged cells.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611880" cy="292608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18745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🔄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13816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06324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cells die every day (skin, blood, gut lining). New cells must replace them.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FF8E6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POINT (refer to Figure 1.1):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daughter cells are </a:t>
            </a:r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genetically identical (2n)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the parent — this is </a:t>
            </a:r>
            <a:pPr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mitosis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meiosis.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Cell Cycle: Four Phases + G0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3657600" cy="3657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1E4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743200"/>
            <a:ext cx="1828800" cy="1828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7432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2336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A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572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94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03520" y="178308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Phase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0" y="21305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grows; carries out normal functions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2743200"/>
            <a:ext cx="731520" cy="731520"/>
          </a:xfrm>
          <a:prstGeom prst="ellipse">
            <a:avLst/>
          </a:prstGeom>
          <a:solidFill>
            <a:srgbClr val="4FA8D8"/>
          </a:solidFill>
          <a:ln w="12700">
            <a:solidFill>
              <a:srgbClr val="4FA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743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Phase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309067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is copied (replicated) — every chromosome doubled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370332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17920" y="3703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Phase 2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40507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makes proteins needed for division; double-checks DNA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303520" y="46634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4663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Mitotic Phase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50109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separate; cell divides into two daughter cells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Quick check: Which phase takes the LONGEST? Which takes the SHORTEST?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(8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Round-Robin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663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partner activity using the 9 vocabulary terms from the lesson's Key Structures card.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 picks a term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B explains it in their own words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 confirms or coaches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roles, pick a new term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9 terms covered (~5 min)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783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KEY TERMS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0" y="228600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228600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28600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228600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chromatids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84080" y="228600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28600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Centromere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5661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56616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Kinetochore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35661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356616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fibers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784080" y="356616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356616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Centrosome / Centrioles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484632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484632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envelope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84632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84632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 furrow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84080" y="4846320"/>
            <a:ext cx="1874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484632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Contractile ring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Stages of Mitosis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124712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PMAT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rophase →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etaphase →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naphase →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elophase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770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condense; spindle forms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260604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788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66360" y="2770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Prometaphase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envelope dissolves; spindle attaches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260604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278892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961120" y="2770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Metaphase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Chromosomes line up at the cell's center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4805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37160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Anaphase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892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chromatids pulled to opposite poles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51960" y="429768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44805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3484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6636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Telophase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4892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Nuclei reform; chromosomes decondense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4297680"/>
            <a:ext cx="3611880" cy="155448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4480560"/>
            <a:ext cx="640080" cy="6400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96112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Cytokinesis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961120" y="4892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physically pinches into two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REPLAY OPTION: Show Video 1.3 (Amoeba Sisters PMAT, 7:55) if students need a refresher.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Cytokinesis: Splitting the Cell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ANIMAL CELLS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Cleavage Furrow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Contractile ring forms around the equator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actin and myosin (like muscles)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Tightens like a drawstring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Pinches the cell into two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0FAF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PLANT CELLS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Plate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cells have rigid cell walls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pinch — too stiff!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Vesicles deliver materials to the middle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 wall from inside out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 Watch Video 1.4 — actual sea urchin embryo cytokinesis (real microscopy footage)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Checkpoint Gates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6118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82880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G1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DNA damaged? Is the cell big enough? Are nutrients available?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521208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5212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5212080"/>
            <a:ext cx="548640" cy="548640"/>
          </a:xfrm>
          <a:prstGeom prst="ellipse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74720" y="5212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1691640"/>
            <a:ext cx="36118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182880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34340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G2/M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34340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G2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3886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DNA fully replicated? Is DNA undamaged? Ready for mitosis?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521208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0" y="5212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5212080"/>
            <a:ext cx="548640" cy="548640"/>
          </a:xfrm>
          <a:prstGeom prst="ellipse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269480" y="5212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1691640"/>
            <a:ext cx="361188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1828800"/>
            <a:ext cx="685800" cy="6858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138160" y="2606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138160" y="3108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38862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chromosomes attached to spindle fibers? Aligned at metaphase plate?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86800" y="521208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9281160" y="5212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469880" y="5212080"/>
            <a:ext cx="548640" cy="548640"/>
          </a:xfrm>
          <a:prstGeom prst="ellipse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698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1064240" y="5212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(12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FAIL? — Checkpoint Decisions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11247120" cy="822960"/>
          </a:xfrm>
          <a:prstGeom prst="rect">
            <a:avLst/>
          </a:prstGeom>
          <a:solidFill>
            <a:srgbClr val="EEF5FB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aloud. Students hold up GREEN (PASS) or RED (FAIL) cards (or thumbs up/down). Then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one student to explain WHY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that's where the learning happens.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4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292608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926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was damaged by UV light from a sunburn.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DNA must be repaired before S phase.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269748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288036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03720" y="292608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G2/M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424160" y="292608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0" y="2926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474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DNA was successfully replicated; no damage detected.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3904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Cell can enter mitosis safely.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34440" y="470916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Spindle (M)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70916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709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chromosome's kinetochore isn't attached to a spindle fiber.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" y="5687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Anaphase paused — would split chromosomes wrong otherwise.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4480560"/>
            <a:ext cx="54864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1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09360" y="4663440"/>
            <a:ext cx="502920" cy="50292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03720" y="470916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424160" y="4709160"/>
            <a:ext cx="1005840" cy="411480"/>
          </a:xfrm>
          <a:prstGeom prst="roundRect">
            <a:avLst>
              <a:gd name="adj" fmla="val 4444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424160" y="4709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is healthy, has nutrients, and growth signals are present.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55080" y="5687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Cell commits to dividing — enters S phase.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Molecular Gatekeepers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aren't magic — they're proteins doing specific jobs.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697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269748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Guardian"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DNA damage and stops the cycle. Can trigger apoptosis if damage is severe.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2194560"/>
            <a:ext cx="2697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2194560"/>
            <a:ext cx="2697480" cy="7772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9272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Keys"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47872" y="32004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rise and fall during the cycle. Different cyclins activate different stages.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81344" y="2194560"/>
            <a:ext cx="2697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1344" y="2194560"/>
            <a:ext cx="269748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81344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Engines"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9944" y="32004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Cyclin-Dependent Kinases. Inactive without a cyclin, but powerful when paired.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43416" y="2194560"/>
            <a:ext cx="2697480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A89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3416" y="2194560"/>
            <a:ext cx="2697480" cy="777240"/>
          </a:xfrm>
          <a:prstGeom prst="rect">
            <a:avLst/>
          </a:prstGeom>
          <a:solidFill>
            <a:srgbClr val="5A89AC"/>
          </a:solidFill>
          <a:ln w="12700">
            <a:solidFill>
              <a:srgbClr val="5A89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43416" y="21945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043416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"Spindle Watchdog"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72016" y="320040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anaphase back until every kinetochore is attached to a spindle fiber.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cells have all this quality control,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anyone get cancer?"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3474720" cy="1371600"/>
          </a:xfrm>
          <a:prstGeom prst="rect">
            <a:avLst/>
          </a:prstGeom>
          <a:solidFill>
            <a:srgbClr val="0E1F3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are good — but not perfect.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4114800"/>
            <a:ext cx="3474720" cy="1371600"/>
          </a:xfrm>
          <a:prstGeom prst="rect">
            <a:avLst/>
          </a:prstGeom>
          <a:solidFill>
            <a:srgbClr val="0E1F3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accumulate over years and decades.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4114800"/>
            <a:ext cx="3474720" cy="1371600"/>
          </a:xfrm>
          <a:prstGeom prst="rect">
            <a:avLst/>
          </a:prstGeom>
          <a:solidFill>
            <a:srgbClr val="0E1F35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3816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MULTIPLE checkpoints fail, no backup remains.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Figure 5.1 to walk through the multi-hit hypothesis after the discussion.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RECAP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Multi-Hit Hypothesis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9748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269748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healthy cell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✓ 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846320"/>
            <a:ext cx="1965960" cy="36576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1645920"/>
            <a:ext cx="269748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F0A5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645920"/>
            <a:ext cx="269748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45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0440" y="2880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1 cell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(backups catch it)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2044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✓ 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703320" y="4846320"/>
            <a:ext cx="1965960" cy="36576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years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645920"/>
            <a:ext cx="269748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E875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645920"/>
            <a:ext cx="2697480" cy="548640"/>
          </a:xfrm>
          <a:prstGeom prst="rect">
            <a:avLst/>
          </a:prstGeom>
          <a:solidFill>
            <a:srgbClr val="E8751C"/>
          </a:solidFill>
          <a:ln w="12700">
            <a:solidFill>
              <a:srgbClr val="E875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645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5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MUTATIONS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880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abnormal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✗ ✓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583680" y="4846320"/>
            <a:ext cx="1965960" cy="36576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~10–15 yrs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98280" y="1645920"/>
            <a:ext cx="2697480" cy="3657600"/>
          </a:xfrm>
          <a:prstGeom prst="rect">
            <a:avLst/>
          </a:prstGeom>
          <a:solidFill>
            <a:srgbClr val="FFFFFF"/>
          </a:solidFill>
          <a:ln w="31750">
            <a:solidFill>
              <a:srgbClr val="DC14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98280" y="1645920"/>
            <a:ext cx="2697480" cy="548640"/>
          </a:xfrm>
          <a:prstGeom prst="rect">
            <a:avLst/>
          </a:prstGeom>
          <a:solidFill>
            <a:srgbClr val="DC143C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16459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09828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81160" y="28803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Disorganized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mass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8116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281160" y="4389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✗ ✗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464040" y="4846320"/>
            <a:ext cx="1965960" cy="365760"/>
          </a:xfrm>
          <a:prstGeom prst="rect">
            <a:avLst/>
          </a:prstGeom>
          <a:solidFill>
            <a:srgbClr val="EEF5FB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64040" y="4846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FFF8E6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577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Big idea: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 typically takes </a:t>
            </a:r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10–20+ years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develop because mutations must accumulate. This is why cancer risk increases with 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These Misconceptions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"Interphase is rest time."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Interphase is the BUSIEST phase — cells grow, copy DNA, prepare proteins.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124712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"DNA copying happens instantly."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 phase takes hours. The cell copies ~3 billion base pairs with high accuracy.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4712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"One mutation = cancer."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480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Cancer requires MULTIPLE checkpoint failures. Backups usually catch single mutations.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11247120" cy="1005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1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"Mitosis = cell division (the whole thing)."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623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Mitosis = nuclear division. Cytokinesis splits the cell. Both are needed.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Differentiation: Meet Every Student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  IF STUDENTS NEED MORE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 key vocabulary visually before the lesson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a stronger partner for the round-robin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Re-show Video 1.3 (Amoeba Sisters Mitosis) at half speed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phase cards to physically arrange in order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lesson's Quick Reference table — skip the long stage descriptions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gate metaphor — defer molecular detail to Lesson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FF8E6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IF STUDENTS FINISH EARLY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body cell that stays in G0 forever — and explain why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spindle checkpoint didn't exist, what would happen?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checkpoint analogy (other than security gates)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children's cells divide more frequently than adults'?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how chemotherapy targets the cell cycle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 Henrietta Lacks &amp; HeLa cells (cells that never stop)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(5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phases of the cell cycle in order, and describe what happens in each in ONE sentence.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47120" cy="137160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G1/S checkpoint check for? What happens if a cell FAILS this checkpoint?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11247120" cy="1371600"/>
          </a:xfrm>
          <a:prstGeom prst="rect">
            <a:avLst/>
          </a:prstGeom>
          <a:solidFill>
            <a:srgbClr val="EEF5FB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cancer typically take 10–20+ years to develop? Use the term "multi-hit hypothesis" in your answer.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194560" cy="320040"/>
          </a:xfrm>
          <a:prstGeom prst="roundRect">
            <a:avLst>
              <a:gd name="adj" fmla="val 42857"/>
            </a:avLst>
          </a:prstGeom>
          <a:solidFill>
            <a:srgbClr val="EBF7F8"/>
          </a:solidFill>
          <a:ln w="12700">
            <a:solidFill>
              <a:srgbClr val="EBF7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Lesson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019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6019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EEF5FB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(today)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&amp; WHY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phases?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checkpoints check?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cell need this?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cancer (high level)?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FFF8E6"/>
          </a:solidFill>
          <a:ln w="254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(next)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actually works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310896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exactly does p53 sense damage?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cyclin-CDK pairs act as a clock?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mutations cause which cancers?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treatments target this system?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facilitating!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Division Gone Wrong • Lesson 1: The Normal Cell Cycle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114800"/>
            <a:ext cx="10698480" cy="1645920"/>
          </a:xfrm>
          <a:prstGeom prst="rect">
            <a:avLst/>
          </a:prstGeom>
          <a:solidFill>
            <a:srgbClr val="0E1F35"/>
          </a:solidFill>
          <a:ln w="12700">
            <a:solidFill>
              <a:srgbClr val="0E1F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LESSON 1 MATERIALS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Student Lesson: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Student_Lesson_TheNormalCellCycle.html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Guided Notes: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lesson1-guided-notes.html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Card Sort Activity: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lesson1-card-sort.html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Facilitation Guide: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A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Teacher_Facilitation_Guide_Lesson1.docx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cures. Saving children. — St. Jude Children's Research Hospital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Division Gone Wrong — Lesson 1</dc:title>
  <dc:subject>PptxGenJS Presentation</dc:subject>
  <dc:creator>St. Jude STEMM Education &amp; Outreach</dc:creator>
  <cp:lastModifiedBy>St. Jude STEMM Education &amp; Outreach</cp:lastModifiedBy>
  <cp:revision>1</cp:revision>
  <dcterms:created xsi:type="dcterms:W3CDTF">2026-04-20T22:03:44Z</dcterms:created>
  <dcterms:modified xsi:type="dcterms:W3CDTF">2026-04-20T22:03:44Z</dcterms:modified>
</cp:coreProperties>
</file>